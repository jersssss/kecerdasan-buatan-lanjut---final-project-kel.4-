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Garet" charset="1" panose="00000000000000000000"/>
      <p:regular r:id="rId20"/>
    </p:embeddedFont>
    <p:embeddedFont>
      <p:font typeface="Telegraf" charset="1" panose="00000500000000000000"/>
      <p:regular r:id="rId21"/>
    </p:embeddedFont>
    <p:embeddedFont>
      <p:font typeface="Garet Bold" charset="1" panose="00000000000000000000"/>
      <p:regular r:id="rId22"/>
    </p:embeddedFont>
    <p:embeddedFont>
      <p:font typeface="Open Sans" charset="1" panose="00000000000000000000"/>
      <p:regular r:id="rId23"/>
    </p:embeddedFont>
    <p:embeddedFont>
      <p:font typeface="Canva Sans" charset="1" panose="020B0503030501040103"/>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9.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1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1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1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1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1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 Id="rId5" Target="../media/image1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png" Type="http://schemas.openxmlformats.org/officeDocument/2006/relationships/image"/><Relationship Id="rId4" Target="../media/image4.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1842469" y="0"/>
            <a:ext cx="5416831" cy="12022429"/>
            <a:chOff x="0" y="0"/>
            <a:chExt cx="2858770" cy="6344920"/>
          </a:xfrm>
        </p:grpSpPr>
        <p:sp>
          <p:nvSpPr>
            <p:cNvPr name="Freeform 3" id="3"/>
            <p:cNvSpPr/>
            <p:nvPr/>
          </p:nvSpPr>
          <p:spPr>
            <a:xfrm flipH="false" flipV="false" rot="0">
              <a:off x="0" y="0"/>
              <a:ext cx="2858770" cy="6344920"/>
            </a:xfrm>
            <a:custGeom>
              <a:avLst/>
              <a:gdLst/>
              <a:ahLst/>
              <a:cxnLst/>
              <a:rect r="r" b="b" t="t" l="l"/>
              <a:pathLst>
                <a:path h="6344920" w="2858770">
                  <a:moveTo>
                    <a:pt x="1827530" y="6344920"/>
                  </a:moveTo>
                  <a:lnTo>
                    <a:pt x="0" y="6344920"/>
                  </a:lnTo>
                  <a:lnTo>
                    <a:pt x="0" y="1031240"/>
                  </a:lnTo>
                  <a:cubicBezTo>
                    <a:pt x="0" y="461010"/>
                    <a:pt x="461010" y="0"/>
                    <a:pt x="1031240" y="0"/>
                  </a:cubicBezTo>
                  <a:lnTo>
                    <a:pt x="2858770" y="0"/>
                  </a:lnTo>
                  <a:lnTo>
                    <a:pt x="2858770" y="5313680"/>
                  </a:lnTo>
                  <a:cubicBezTo>
                    <a:pt x="2858770" y="5883910"/>
                    <a:pt x="2397760" y="6344920"/>
                    <a:pt x="1827530" y="6344920"/>
                  </a:cubicBezTo>
                  <a:close/>
                </a:path>
              </a:pathLst>
            </a:custGeom>
            <a:blipFill>
              <a:blip r:embed="rId2"/>
              <a:stretch>
                <a:fillRect l="-34944" t="0" r="-34944" b="0"/>
              </a:stretch>
            </a:blipFill>
          </p:spPr>
        </p:sp>
      </p:grpSp>
      <p:grpSp>
        <p:nvGrpSpPr>
          <p:cNvPr name="Group 4" id="4"/>
          <p:cNvGrpSpPr/>
          <p:nvPr/>
        </p:nvGrpSpPr>
        <p:grpSpPr>
          <a:xfrm rot="0">
            <a:off x="17259300" y="7109187"/>
            <a:ext cx="1028700" cy="3177813"/>
            <a:chOff x="0" y="0"/>
            <a:chExt cx="812800" cy="2510865"/>
          </a:xfrm>
        </p:grpSpPr>
        <p:sp>
          <p:nvSpPr>
            <p:cNvPr name="Freeform 5" id="5"/>
            <p:cNvSpPr/>
            <p:nvPr/>
          </p:nvSpPr>
          <p:spPr>
            <a:xfrm flipH="false" flipV="false" rot="0">
              <a:off x="0" y="0"/>
              <a:ext cx="812800" cy="2510865"/>
            </a:xfrm>
            <a:custGeom>
              <a:avLst/>
              <a:gdLst/>
              <a:ahLst/>
              <a:cxnLst/>
              <a:rect r="r" b="b" t="t" l="l"/>
              <a:pathLst>
                <a:path h="2510865" w="812800">
                  <a:moveTo>
                    <a:pt x="0" y="0"/>
                  </a:moveTo>
                  <a:lnTo>
                    <a:pt x="812800" y="0"/>
                  </a:lnTo>
                  <a:lnTo>
                    <a:pt x="812800" y="2510865"/>
                  </a:lnTo>
                  <a:lnTo>
                    <a:pt x="0" y="2510865"/>
                  </a:lnTo>
                  <a:close/>
                </a:path>
              </a:pathLst>
            </a:custGeom>
            <a:solidFill>
              <a:srgbClr val="0345E4"/>
            </a:solidFill>
          </p:spPr>
        </p:sp>
        <p:sp>
          <p:nvSpPr>
            <p:cNvPr name="TextBox 6" id="6"/>
            <p:cNvSpPr txBox="true"/>
            <p:nvPr/>
          </p:nvSpPr>
          <p:spPr>
            <a:xfrm>
              <a:off x="0" y="-38100"/>
              <a:ext cx="812800" cy="2548965"/>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0" y="7109187"/>
            <a:ext cx="11842469" cy="3177813"/>
            <a:chOff x="0" y="0"/>
            <a:chExt cx="9357013" cy="2510865"/>
          </a:xfrm>
        </p:grpSpPr>
        <p:sp>
          <p:nvSpPr>
            <p:cNvPr name="Freeform 8" id="8"/>
            <p:cNvSpPr/>
            <p:nvPr/>
          </p:nvSpPr>
          <p:spPr>
            <a:xfrm flipH="false" flipV="false" rot="0">
              <a:off x="0" y="0"/>
              <a:ext cx="9357013" cy="2510865"/>
            </a:xfrm>
            <a:custGeom>
              <a:avLst/>
              <a:gdLst/>
              <a:ahLst/>
              <a:cxnLst/>
              <a:rect r="r" b="b" t="t" l="l"/>
              <a:pathLst>
                <a:path h="2510865" w="9357013">
                  <a:moveTo>
                    <a:pt x="0" y="0"/>
                  </a:moveTo>
                  <a:lnTo>
                    <a:pt x="9357013" y="0"/>
                  </a:lnTo>
                  <a:lnTo>
                    <a:pt x="9357013" y="2510865"/>
                  </a:lnTo>
                  <a:lnTo>
                    <a:pt x="0" y="2510865"/>
                  </a:lnTo>
                  <a:close/>
                </a:path>
              </a:pathLst>
            </a:custGeom>
            <a:solidFill>
              <a:srgbClr val="F6F6F6"/>
            </a:solidFill>
          </p:spPr>
        </p:sp>
        <p:sp>
          <p:nvSpPr>
            <p:cNvPr name="TextBox 9" id="9"/>
            <p:cNvSpPr txBox="true"/>
            <p:nvPr/>
          </p:nvSpPr>
          <p:spPr>
            <a:xfrm>
              <a:off x="0" y="-38100"/>
              <a:ext cx="9357013" cy="2548965"/>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7259300" y="0"/>
            <a:ext cx="1028700" cy="102870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345E4"/>
            </a:solidFill>
          </p:spPr>
        </p:sp>
        <p:sp>
          <p:nvSpPr>
            <p:cNvPr name="TextBox 12" id="12"/>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609914" y="0"/>
            <a:ext cx="1694792" cy="10287000"/>
            <a:chOff x="0" y="0"/>
            <a:chExt cx="446365" cy="2709333"/>
          </a:xfrm>
        </p:grpSpPr>
        <p:sp>
          <p:nvSpPr>
            <p:cNvPr name="Freeform 14" id="14"/>
            <p:cNvSpPr/>
            <p:nvPr/>
          </p:nvSpPr>
          <p:spPr>
            <a:xfrm flipH="false" flipV="false" rot="0">
              <a:off x="0" y="0"/>
              <a:ext cx="446365" cy="2709333"/>
            </a:xfrm>
            <a:custGeom>
              <a:avLst/>
              <a:gdLst/>
              <a:ahLst/>
              <a:cxnLst/>
              <a:rect r="r" b="b" t="t" l="l"/>
              <a:pathLst>
                <a:path h="2709333" w="446365">
                  <a:moveTo>
                    <a:pt x="223183" y="0"/>
                  </a:moveTo>
                  <a:lnTo>
                    <a:pt x="223183" y="0"/>
                  </a:lnTo>
                  <a:cubicBezTo>
                    <a:pt x="282374" y="0"/>
                    <a:pt x="339142" y="23514"/>
                    <a:pt x="380996" y="65369"/>
                  </a:cubicBezTo>
                  <a:cubicBezTo>
                    <a:pt x="422851" y="107224"/>
                    <a:pt x="446365" y="163991"/>
                    <a:pt x="446365" y="223183"/>
                  </a:cubicBezTo>
                  <a:lnTo>
                    <a:pt x="446365" y="2486151"/>
                  </a:lnTo>
                  <a:cubicBezTo>
                    <a:pt x="446365" y="2609411"/>
                    <a:pt x="346443" y="2709333"/>
                    <a:pt x="223183" y="2709333"/>
                  </a:cubicBezTo>
                  <a:lnTo>
                    <a:pt x="223183" y="2709333"/>
                  </a:lnTo>
                  <a:cubicBezTo>
                    <a:pt x="99922" y="2709333"/>
                    <a:pt x="0" y="2609411"/>
                    <a:pt x="0" y="2486151"/>
                  </a:cubicBezTo>
                  <a:lnTo>
                    <a:pt x="0" y="223183"/>
                  </a:lnTo>
                  <a:cubicBezTo>
                    <a:pt x="0" y="99922"/>
                    <a:pt x="99922" y="0"/>
                    <a:pt x="223183" y="0"/>
                  </a:cubicBezTo>
                  <a:close/>
                </a:path>
              </a:pathLst>
            </a:custGeom>
            <a:solidFill>
              <a:srgbClr val="0345E4"/>
            </a:solidFill>
          </p:spPr>
        </p:sp>
        <p:sp>
          <p:nvSpPr>
            <p:cNvPr name="TextBox 15" id="15"/>
            <p:cNvSpPr txBox="true"/>
            <p:nvPr/>
          </p:nvSpPr>
          <p:spPr>
            <a:xfrm>
              <a:off x="0" y="-38100"/>
              <a:ext cx="446365" cy="2747433"/>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191230" y="4820253"/>
            <a:ext cx="9839151" cy="1721832"/>
            <a:chOff x="0" y="0"/>
            <a:chExt cx="2591381" cy="453487"/>
          </a:xfrm>
        </p:grpSpPr>
        <p:sp>
          <p:nvSpPr>
            <p:cNvPr name="Freeform 17" id="17"/>
            <p:cNvSpPr/>
            <p:nvPr/>
          </p:nvSpPr>
          <p:spPr>
            <a:xfrm flipH="false" flipV="false" rot="0">
              <a:off x="0" y="0"/>
              <a:ext cx="2591381" cy="453487"/>
            </a:xfrm>
            <a:custGeom>
              <a:avLst/>
              <a:gdLst/>
              <a:ahLst/>
              <a:cxnLst/>
              <a:rect r="r" b="b" t="t" l="l"/>
              <a:pathLst>
                <a:path h="453487" w="2591381">
                  <a:moveTo>
                    <a:pt x="40129" y="0"/>
                  </a:moveTo>
                  <a:lnTo>
                    <a:pt x="2551252" y="0"/>
                  </a:lnTo>
                  <a:cubicBezTo>
                    <a:pt x="2561895" y="0"/>
                    <a:pt x="2572102" y="4228"/>
                    <a:pt x="2579628" y="11754"/>
                  </a:cubicBezTo>
                  <a:cubicBezTo>
                    <a:pt x="2587154" y="19279"/>
                    <a:pt x="2591381" y="29486"/>
                    <a:pt x="2591381" y="40129"/>
                  </a:cubicBezTo>
                  <a:lnTo>
                    <a:pt x="2591381" y="413357"/>
                  </a:lnTo>
                  <a:cubicBezTo>
                    <a:pt x="2591381" y="435520"/>
                    <a:pt x="2573415" y="453487"/>
                    <a:pt x="2551252" y="453487"/>
                  </a:cubicBezTo>
                  <a:lnTo>
                    <a:pt x="40129" y="453487"/>
                  </a:lnTo>
                  <a:cubicBezTo>
                    <a:pt x="17966" y="453487"/>
                    <a:pt x="0" y="435520"/>
                    <a:pt x="0" y="413357"/>
                  </a:cubicBezTo>
                  <a:lnTo>
                    <a:pt x="0" y="40129"/>
                  </a:lnTo>
                  <a:cubicBezTo>
                    <a:pt x="0" y="17966"/>
                    <a:pt x="17966" y="0"/>
                    <a:pt x="40129" y="0"/>
                  </a:cubicBezTo>
                  <a:close/>
                </a:path>
              </a:pathLst>
            </a:custGeom>
            <a:solidFill>
              <a:srgbClr val="0345E4"/>
            </a:solidFill>
          </p:spPr>
        </p:sp>
        <p:sp>
          <p:nvSpPr>
            <p:cNvPr name="TextBox 18" id="18"/>
            <p:cNvSpPr txBox="true"/>
            <p:nvPr/>
          </p:nvSpPr>
          <p:spPr>
            <a:xfrm>
              <a:off x="0" y="-66675"/>
              <a:ext cx="2591381" cy="520162"/>
            </a:xfrm>
            <a:prstGeom prst="rect">
              <a:avLst/>
            </a:prstGeom>
          </p:spPr>
          <p:txBody>
            <a:bodyPr anchor="ctr" rtlCol="false" tIns="50800" lIns="50800" bIns="50800" rIns="50800"/>
            <a:lstStyle/>
            <a:p>
              <a:pPr algn="ctr">
                <a:lnSpc>
                  <a:spcPts val="5179"/>
                </a:lnSpc>
              </a:pPr>
              <a:r>
                <a:rPr lang="en-US" sz="3699">
                  <a:solidFill>
                    <a:srgbClr val="FFFFFF"/>
                  </a:solidFill>
                  <a:latin typeface="Garet"/>
                  <a:ea typeface="Garet"/>
                  <a:cs typeface="Garet"/>
                  <a:sym typeface="Garet"/>
                </a:rPr>
                <a:t>Deteksi Jenis Cuaca dari Citra Langit Menggunakan CNN</a:t>
              </a:r>
            </a:p>
          </p:txBody>
        </p:sp>
      </p:grpSp>
      <p:grpSp>
        <p:nvGrpSpPr>
          <p:cNvPr name="Group 19" id="19"/>
          <p:cNvGrpSpPr/>
          <p:nvPr/>
        </p:nvGrpSpPr>
        <p:grpSpPr>
          <a:xfrm rot="0">
            <a:off x="10853887" y="786854"/>
            <a:ext cx="1977164" cy="1977164"/>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199699" y="0"/>
                  </a:moveTo>
                  <a:lnTo>
                    <a:pt x="613101" y="0"/>
                  </a:lnTo>
                  <a:cubicBezTo>
                    <a:pt x="666064" y="0"/>
                    <a:pt x="716859" y="21040"/>
                    <a:pt x="754309" y="58491"/>
                  </a:cubicBezTo>
                  <a:cubicBezTo>
                    <a:pt x="791760" y="95941"/>
                    <a:pt x="812800" y="146736"/>
                    <a:pt x="812800" y="199699"/>
                  </a:cubicBezTo>
                  <a:lnTo>
                    <a:pt x="812800" y="613101"/>
                  </a:lnTo>
                  <a:cubicBezTo>
                    <a:pt x="812800" y="666064"/>
                    <a:pt x="791760" y="716859"/>
                    <a:pt x="754309" y="754309"/>
                  </a:cubicBezTo>
                  <a:cubicBezTo>
                    <a:pt x="716859" y="791760"/>
                    <a:pt x="666064" y="812800"/>
                    <a:pt x="613101" y="812800"/>
                  </a:cubicBezTo>
                  <a:lnTo>
                    <a:pt x="199699" y="812800"/>
                  </a:lnTo>
                  <a:cubicBezTo>
                    <a:pt x="146736" y="812800"/>
                    <a:pt x="95941" y="791760"/>
                    <a:pt x="58491" y="754309"/>
                  </a:cubicBezTo>
                  <a:cubicBezTo>
                    <a:pt x="21040" y="716859"/>
                    <a:pt x="0" y="666064"/>
                    <a:pt x="0" y="613101"/>
                  </a:cubicBezTo>
                  <a:lnTo>
                    <a:pt x="0" y="199699"/>
                  </a:lnTo>
                  <a:cubicBezTo>
                    <a:pt x="0" y="146736"/>
                    <a:pt x="21040" y="95941"/>
                    <a:pt x="58491" y="58491"/>
                  </a:cubicBezTo>
                  <a:cubicBezTo>
                    <a:pt x="95941" y="21040"/>
                    <a:pt x="146736" y="0"/>
                    <a:pt x="199699" y="0"/>
                  </a:cubicBezTo>
                  <a:close/>
                </a:path>
              </a:pathLst>
            </a:custGeom>
            <a:solidFill>
              <a:srgbClr val="0345E4">
                <a:alpha val="29804"/>
              </a:srgbClr>
            </a:solidFill>
          </p:spPr>
        </p:sp>
        <p:sp>
          <p:nvSpPr>
            <p:cNvPr name="TextBox 21" id="21"/>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8484493" y="9014056"/>
            <a:ext cx="2545888" cy="2545888"/>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0345E4">
                  <a:alpha val="9804"/>
                </a:srgbClr>
              </a:solidFill>
              <a:prstDash val="solid"/>
              <a:miter/>
            </a:ln>
          </p:spPr>
        </p:sp>
        <p:sp>
          <p:nvSpPr>
            <p:cNvPr name="TextBox 24" id="2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25" id="25"/>
          <p:cNvSpPr/>
          <p:nvPr/>
        </p:nvSpPr>
        <p:spPr>
          <a:xfrm flipH="false" flipV="false" rot="0">
            <a:off x="1354651" y="355342"/>
            <a:ext cx="2112543" cy="559687"/>
          </a:xfrm>
          <a:custGeom>
            <a:avLst/>
            <a:gdLst/>
            <a:ahLst/>
            <a:cxnLst/>
            <a:rect r="r" b="b" t="t" l="l"/>
            <a:pathLst>
              <a:path h="559687" w="2112543">
                <a:moveTo>
                  <a:pt x="0" y="0"/>
                </a:moveTo>
                <a:lnTo>
                  <a:pt x="2112543" y="0"/>
                </a:lnTo>
                <a:lnTo>
                  <a:pt x="2112543" y="559687"/>
                </a:lnTo>
                <a:lnTo>
                  <a:pt x="0" y="559687"/>
                </a:lnTo>
                <a:lnTo>
                  <a:pt x="0" y="0"/>
                </a:lnTo>
                <a:close/>
              </a:path>
            </a:pathLst>
          </a:custGeom>
          <a:blipFill>
            <a:blip r:embed="rId3"/>
            <a:stretch>
              <a:fillRect l="0" t="0" r="0" b="0"/>
            </a:stretch>
          </a:blipFill>
        </p:spPr>
      </p:sp>
      <p:sp>
        <p:nvSpPr>
          <p:cNvPr name="Freeform 26" id="26"/>
          <p:cNvSpPr/>
          <p:nvPr/>
        </p:nvSpPr>
        <p:spPr>
          <a:xfrm flipH="false" flipV="false" rot="0">
            <a:off x="3651637" y="298507"/>
            <a:ext cx="686062" cy="673358"/>
          </a:xfrm>
          <a:custGeom>
            <a:avLst/>
            <a:gdLst/>
            <a:ahLst/>
            <a:cxnLst/>
            <a:rect r="r" b="b" t="t" l="l"/>
            <a:pathLst>
              <a:path h="673358" w="686062">
                <a:moveTo>
                  <a:pt x="0" y="0"/>
                </a:moveTo>
                <a:lnTo>
                  <a:pt x="686062" y="0"/>
                </a:lnTo>
                <a:lnTo>
                  <a:pt x="686062" y="673358"/>
                </a:lnTo>
                <a:lnTo>
                  <a:pt x="0" y="673358"/>
                </a:lnTo>
                <a:lnTo>
                  <a:pt x="0" y="0"/>
                </a:lnTo>
                <a:close/>
              </a:path>
            </a:pathLst>
          </a:custGeom>
          <a:blipFill>
            <a:blip r:embed="rId4"/>
            <a:stretch>
              <a:fillRect l="0" t="0" r="0" b="0"/>
            </a:stretch>
          </a:blipFill>
        </p:spPr>
      </p:sp>
      <p:sp>
        <p:nvSpPr>
          <p:cNvPr name="Freeform 27" id="27"/>
          <p:cNvSpPr/>
          <p:nvPr/>
        </p:nvSpPr>
        <p:spPr>
          <a:xfrm flipH="false" flipV="false" rot="0">
            <a:off x="4522142" y="326351"/>
            <a:ext cx="645513" cy="645513"/>
          </a:xfrm>
          <a:custGeom>
            <a:avLst/>
            <a:gdLst/>
            <a:ahLst/>
            <a:cxnLst/>
            <a:rect r="r" b="b" t="t" l="l"/>
            <a:pathLst>
              <a:path h="645513" w="645513">
                <a:moveTo>
                  <a:pt x="0" y="0"/>
                </a:moveTo>
                <a:lnTo>
                  <a:pt x="645514" y="0"/>
                </a:lnTo>
                <a:lnTo>
                  <a:pt x="645514" y="645514"/>
                </a:lnTo>
                <a:lnTo>
                  <a:pt x="0" y="645514"/>
                </a:lnTo>
                <a:lnTo>
                  <a:pt x="0" y="0"/>
                </a:lnTo>
                <a:close/>
              </a:path>
            </a:pathLst>
          </a:custGeom>
          <a:blipFill>
            <a:blip r:embed="rId5"/>
            <a:stretch>
              <a:fillRect l="0" t="0" r="0" b="0"/>
            </a:stretch>
          </a:blipFill>
        </p:spPr>
      </p:sp>
      <p:sp>
        <p:nvSpPr>
          <p:cNvPr name="TextBox 28" id="28"/>
          <p:cNvSpPr txBox="true"/>
          <p:nvPr/>
        </p:nvSpPr>
        <p:spPr>
          <a:xfrm rot="0">
            <a:off x="2556169" y="7142160"/>
            <a:ext cx="6730132" cy="2110740"/>
          </a:xfrm>
          <a:prstGeom prst="rect">
            <a:avLst/>
          </a:prstGeom>
        </p:spPr>
        <p:txBody>
          <a:bodyPr anchor="t" rtlCol="false" tIns="0" lIns="0" bIns="0" rIns="0">
            <a:spAutoFit/>
          </a:bodyPr>
          <a:lstStyle/>
          <a:p>
            <a:pPr algn="ctr">
              <a:lnSpc>
                <a:spcPts val="3359"/>
              </a:lnSpc>
            </a:pPr>
            <a:r>
              <a:rPr lang="en-US" sz="2400">
                <a:solidFill>
                  <a:srgbClr val="000000"/>
                </a:solidFill>
                <a:latin typeface="Telegraf"/>
                <a:ea typeface="Telegraf"/>
                <a:cs typeface="Telegraf"/>
                <a:sym typeface="Telegraf"/>
              </a:rPr>
              <a:t>Kelompok 4 :</a:t>
            </a:r>
          </a:p>
          <a:p>
            <a:pPr algn="ctr">
              <a:lnSpc>
                <a:spcPts val="3359"/>
              </a:lnSpc>
            </a:pPr>
            <a:r>
              <a:rPr lang="en-US" sz="2400">
                <a:solidFill>
                  <a:srgbClr val="000000"/>
                </a:solidFill>
                <a:latin typeface="Telegraf"/>
                <a:ea typeface="Telegraf"/>
                <a:cs typeface="Telegraf"/>
                <a:sym typeface="Telegraf"/>
              </a:rPr>
              <a:t>1. Yezha amanando rifky zafian(23.11.5629)</a:t>
            </a:r>
          </a:p>
          <a:p>
            <a:pPr algn="ctr">
              <a:lnSpc>
                <a:spcPts val="3359"/>
              </a:lnSpc>
            </a:pPr>
            <a:r>
              <a:rPr lang="en-US" sz="2400">
                <a:solidFill>
                  <a:srgbClr val="000000"/>
                </a:solidFill>
                <a:latin typeface="Telegraf"/>
                <a:ea typeface="Telegraf"/>
                <a:cs typeface="Telegraf"/>
                <a:sym typeface="Telegraf"/>
              </a:rPr>
              <a:t>2. Muhamad Riyan Faujan(2303010121)</a:t>
            </a:r>
          </a:p>
          <a:p>
            <a:pPr algn="ctr">
              <a:lnSpc>
                <a:spcPts val="3359"/>
              </a:lnSpc>
            </a:pPr>
            <a:r>
              <a:rPr lang="en-US" sz="2400">
                <a:solidFill>
                  <a:srgbClr val="000000"/>
                </a:solidFill>
                <a:latin typeface="Telegraf"/>
                <a:ea typeface="Telegraf"/>
                <a:cs typeface="Telegraf"/>
                <a:sym typeface="Telegraf"/>
              </a:rPr>
              <a:t>3. Alfiyah Adwa (2303010127)</a:t>
            </a:r>
          </a:p>
          <a:p>
            <a:pPr algn="ctr">
              <a:lnSpc>
                <a:spcPts val="3359"/>
              </a:lnSpc>
            </a:pPr>
            <a:r>
              <a:rPr lang="en-US" sz="2400">
                <a:solidFill>
                  <a:srgbClr val="000000"/>
                </a:solidFill>
                <a:latin typeface="Telegraf"/>
                <a:ea typeface="Telegraf"/>
                <a:cs typeface="Telegraf"/>
                <a:sym typeface="Telegraf"/>
              </a:rPr>
              <a:t>4. Jerico Rosales Siahay (23.11.5685)</a:t>
            </a:r>
          </a:p>
        </p:txBody>
      </p:sp>
      <p:sp>
        <p:nvSpPr>
          <p:cNvPr name="TextBox 29" id="29"/>
          <p:cNvSpPr txBox="true"/>
          <p:nvPr/>
        </p:nvSpPr>
        <p:spPr>
          <a:xfrm rot="0">
            <a:off x="1354651" y="1682019"/>
            <a:ext cx="9499236" cy="2571133"/>
          </a:xfrm>
          <a:prstGeom prst="rect">
            <a:avLst/>
          </a:prstGeom>
        </p:spPr>
        <p:txBody>
          <a:bodyPr anchor="t" rtlCol="false" tIns="0" lIns="0" bIns="0" rIns="0">
            <a:spAutoFit/>
          </a:bodyPr>
          <a:lstStyle/>
          <a:p>
            <a:pPr algn="ctr">
              <a:lnSpc>
                <a:spcPts val="6788"/>
              </a:lnSpc>
            </a:pPr>
            <a:r>
              <a:rPr lang="en-US" b="true" sz="5902">
                <a:solidFill>
                  <a:srgbClr val="000000"/>
                </a:solidFill>
                <a:latin typeface="Garet Bold"/>
                <a:ea typeface="Garet Bold"/>
                <a:cs typeface="Garet Bold"/>
                <a:sym typeface="Garet Bold"/>
              </a:rPr>
              <a:t>FINAL PROJECT KECERDASAN BUATAN (LANJUT)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888" r="0" b="-8888"/>
            </a:stretch>
          </a:blipFill>
        </p:spPr>
      </p:sp>
      <p:sp>
        <p:nvSpPr>
          <p:cNvPr name="TextBox 3" id="3"/>
          <p:cNvSpPr txBox="true"/>
          <p:nvPr/>
        </p:nvSpPr>
        <p:spPr>
          <a:xfrm rot="0">
            <a:off x="2699429" y="946696"/>
            <a:ext cx="12832192" cy="1326552"/>
          </a:xfrm>
          <a:prstGeom prst="rect">
            <a:avLst/>
          </a:prstGeom>
        </p:spPr>
        <p:txBody>
          <a:bodyPr anchor="t" rtlCol="false" tIns="0" lIns="0" bIns="0" rIns="0">
            <a:spAutoFit/>
          </a:bodyPr>
          <a:lstStyle/>
          <a:p>
            <a:pPr algn="ctr">
              <a:lnSpc>
                <a:spcPts val="10882"/>
              </a:lnSpc>
            </a:pPr>
            <a:r>
              <a:rPr lang="en-US" b="true" sz="7773">
                <a:solidFill>
                  <a:srgbClr val="FFFFFF"/>
                </a:solidFill>
                <a:latin typeface="Garet Bold"/>
                <a:ea typeface="Garet Bold"/>
                <a:cs typeface="Garet Bold"/>
                <a:sym typeface="Garet Bold"/>
              </a:rPr>
              <a:t>LATAR BELAKANG</a:t>
            </a:r>
          </a:p>
        </p:txBody>
      </p:sp>
      <p:sp>
        <p:nvSpPr>
          <p:cNvPr name="TextBox 4" id="4"/>
          <p:cNvSpPr txBox="true"/>
          <p:nvPr/>
        </p:nvSpPr>
        <p:spPr>
          <a:xfrm rot="0">
            <a:off x="1340584" y="3323828"/>
            <a:ext cx="15606832" cy="6338136"/>
          </a:xfrm>
          <a:prstGeom prst="rect">
            <a:avLst/>
          </a:prstGeom>
        </p:spPr>
        <p:txBody>
          <a:bodyPr anchor="t" rtlCol="false" tIns="0" lIns="0" bIns="0" rIns="0">
            <a:spAutoFit/>
          </a:bodyPr>
          <a:lstStyle/>
          <a:p>
            <a:pPr algn="ctr" marL="0" indent="0" lvl="0">
              <a:lnSpc>
                <a:spcPts val="4608"/>
              </a:lnSpc>
            </a:pPr>
            <a:r>
              <a:rPr lang="en-US" sz="2304">
                <a:solidFill>
                  <a:srgbClr val="FFFFFF"/>
                </a:solidFill>
                <a:latin typeface="Garet"/>
                <a:ea typeface="Garet"/>
                <a:cs typeface="Garet"/>
                <a:sym typeface="Garet"/>
              </a:rPr>
              <a:t>Cuaca merupakan elemen penting yang memengaruhi berbagai aktivitas manusia, seperti transportasi, pertanian, pariwisata, hingga keselamatan. Selama ini, pemantauan cuaca umumnya dilakukan menggunakan perangkat sensor meteorologi yang mengukur suhu, kelembapan, tekanan udara, dan curah hujan. Namun, metode ini memiliki keterbatasan karena membutuhkan peralatan khusus dan tidak tersedia secara merata di semua wilayah. Di sisi lain, pengamatan visual terhadap kondisi langit secara manual juga kurang efektif karena bersifat subjektif dan sulit diterapkan dalam skala besar. Seiring berkembangnya teknologi, khususnya di bidang kecerdasan buatan, metode Convolutional Neural Network (CNN) dapat dimanfaatkan untuk mengenali pola visual pada citra langit secara otomatis dan akurat. Dengan pendekatan ini, sistem klasifikasi cuaca berbasis citra dapat dikembangkan sebagai solusi yang lebih praktis, efisien, dan dapat diandalkan.</a:t>
            </a:r>
          </a:p>
          <a:p>
            <a:pPr algn="ctr" marL="0" indent="0" lvl="0">
              <a:lnSpc>
                <a:spcPts val="4608"/>
              </a:lnSpc>
            </a:pPr>
          </a:p>
        </p:txBody>
      </p:sp>
      <p:sp>
        <p:nvSpPr>
          <p:cNvPr name="AutoShape 5" id="5"/>
          <p:cNvSpPr/>
          <p:nvPr/>
        </p:nvSpPr>
        <p:spPr>
          <a:xfrm>
            <a:off x="8488950" y="2866628"/>
            <a:ext cx="1310100" cy="0"/>
          </a:xfrm>
          <a:prstGeom prst="line">
            <a:avLst/>
          </a:prstGeom>
          <a:ln cap="flat" w="95250">
            <a:solidFill>
              <a:srgbClr val="FFFFFF"/>
            </a:solidFill>
            <a:prstDash val="solid"/>
            <a:headEnd type="none" len="sm" w="sm"/>
            <a:tailEnd type="none" len="sm" w="sm"/>
          </a:ln>
        </p:spPr>
      </p:sp>
      <p:grpSp>
        <p:nvGrpSpPr>
          <p:cNvPr name="Group 6" id="6"/>
          <p:cNvGrpSpPr/>
          <p:nvPr/>
        </p:nvGrpSpPr>
        <p:grpSpPr>
          <a:xfrm rot="0">
            <a:off x="15664971" y="-782737"/>
            <a:ext cx="3744615" cy="374461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FFFFFF">
                  <a:alpha val="19608"/>
                </a:srgbClr>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755020" y="7356528"/>
            <a:ext cx="2350854" cy="2350854"/>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FFFFFF">
                  <a:alpha val="19608"/>
                </a:srgbClr>
              </a:soli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2" id="12"/>
          <p:cNvSpPr/>
          <p:nvPr/>
        </p:nvSpPr>
        <p:spPr>
          <a:xfrm flipH="false" flipV="false" rot="0">
            <a:off x="13335445" y="340639"/>
            <a:ext cx="2196176" cy="581844"/>
          </a:xfrm>
          <a:custGeom>
            <a:avLst/>
            <a:gdLst/>
            <a:ahLst/>
            <a:cxnLst/>
            <a:rect r="r" b="b" t="t" l="l"/>
            <a:pathLst>
              <a:path h="581844" w="2196176">
                <a:moveTo>
                  <a:pt x="0" y="0"/>
                </a:moveTo>
                <a:lnTo>
                  <a:pt x="2196176" y="0"/>
                </a:lnTo>
                <a:lnTo>
                  <a:pt x="2196176" y="581844"/>
                </a:lnTo>
                <a:lnTo>
                  <a:pt x="0" y="581844"/>
                </a:lnTo>
                <a:lnTo>
                  <a:pt x="0" y="0"/>
                </a:lnTo>
                <a:close/>
              </a:path>
            </a:pathLst>
          </a:custGeom>
          <a:blipFill>
            <a:blip r:embed="rId3"/>
            <a:stretch>
              <a:fillRect l="0" t="0" r="0" b="0"/>
            </a:stretch>
          </a:blipFill>
        </p:spPr>
      </p:sp>
      <p:sp>
        <p:nvSpPr>
          <p:cNvPr name="Freeform 13" id="13"/>
          <p:cNvSpPr/>
          <p:nvPr/>
        </p:nvSpPr>
        <p:spPr>
          <a:xfrm flipH="false" flipV="false" rot="0">
            <a:off x="15664971" y="294883"/>
            <a:ext cx="686062" cy="673358"/>
          </a:xfrm>
          <a:custGeom>
            <a:avLst/>
            <a:gdLst/>
            <a:ahLst/>
            <a:cxnLst/>
            <a:rect r="r" b="b" t="t" l="l"/>
            <a:pathLst>
              <a:path h="673358" w="686062">
                <a:moveTo>
                  <a:pt x="0" y="0"/>
                </a:moveTo>
                <a:lnTo>
                  <a:pt x="686062" y="0"/>
                </a:lnTo>
                <a:lnTo>
                  <a:pt x="686062" y="673357"/>
                </a:lnTo>
                <a:lnTo>
                  <a:pt x="0" y="673357"/>
                </a:lnTo>
                <a:lnTo>
                  <a:pt x="0" y="0"/>
                </a:lnTo>
                <a:close/>
              </a:path>
            </a:pathLst>
          </a:custGeom>
          <a:blipFill>
            <a:blip r:embed="rId4"/>
            <a:stretch>
              <a:fillRect l="0" t="0" r="0" b="0"/>
            </a:stretch>
          </a:blipFill>
        </p:spPr>
      </p:sp>
      <p:sp>
        <p:nvSpPr>
          <p:cNvPr name="Freeform 14" id="14"/>
          <p:cNvSpPr/>
          <p:nvPr/>
        </p:nvSpPr>
        <p:spPr>
          <a:xfrm flipH="false" flipV="false" rot="0">
            <a:off x="16482575" y="294883"/>
            <a:ext cx="645513" cy="645513"/>
          </a:xfrm>
          <a:custGeom>
            <a:avLst/>
            <a:gdLst/>
            <a:ahLst/>
            <a:cxnLst/>
            <a:rect r="r" b="b" t="t" l="l"/>
            <a:pathLst>
              <a:path h="645513" w="645513">
                <a:moveTo>
                  <a:pt x="0" y="0"/>
                </a:moveTo>
                <a:lnTo>
                  <a:pt x="645513" y="0"/>
                </a:lnTo>
                <a:lnTo>
                  <a:pt x="645513" y="645513"/>
                </a:lnTo>
                <a:lnTo>
                  <a:pt x="0" y="645513"/>
                </a:lnTo>
                <a:lnTo>
                  <a:pt x="0" y="0"/>
                </a:lnTo>
                <a:close/>
              </a:path>
            </a:pathLst>
          </a:custGeom>
          <a:blipFill>
            <a:blip r:embed="rId5"/>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132192" y="7246883"/>
            <a:ext cx="11830234" cy="3177813"/>
            <a:chOff x="0" y="0"/>
            <a:chExt cx="9347345" cy="2510865"/>
          </a:xfrm>
        </p:grpSpPr>
        <p:sp>
          <p:nvSpPr>
            <p:cNvPr name="Freeform 3" id="3"/>
            <p:cNvSpPr/>
            <p:nvPr/>
          </p:nvSpPr>
          <p:spPr>
            <a:xfrm flipH="false" flipV="false" rot="0">
              <a:off x="0" y="0"/>
              <a:ext cx="9347345" cy="2510865"/>
            </a:xfrm>
            <a:custGeom>
              <a:avLst/>
              <a:gdLst/>
              <a:ahLst/>
              <a:cxnLst/>
              <a:rect r="r" b="b" t="t" l="l"/>
              <a:pathLst>
                <a:path h="2510865" w="9347345">
                  <a:moveTo>
                    <a:pt x="0" y="0"/>
                  </a:moveTo>
                  <a:lnTo>
                    <a:pt x="9347345" y="0"/>
                  </a:lnTo>
                  <a:lnTo>
                    <a:pt x="9347345" y="2510865"/>
                  </a:lnTo>
                  <a:lnTo>
                    <a:pt x="0" y="2510865"/>
                  </a:lnTo>
                  <a:close/>
                </a:path>
              </a:pathLst>
            </a:custGeom>
            <a:solidFill>
              <a:srgbClr val="F6F6F6"/>
            </a:solidFill>
          </p:spPr>
        </p:sp>
        <p:sp>
          <p:nvSpPr>
            <p:cNvPr name="TextBox 4" id="4"/>
            <p:cNvSpPr txBox="true"/>
            <p:nvPr/>
          </p:nvSpPr>
          <p:spPr>
            <a:xfrm>
              <a:off x="0" y="-38100"/>
              <a:ext cx="9347345" cy="2548965"/>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17259300" y="0"/>
            <a:ext cx="1694792" cy="10287000"/>
            <a:chOff x="0" y="0"/>
            <a:chExt cx="446365" cy="2709333"/>
          </a:xfrm>
        </p:grpSpPr>
        <p:sp>
          <p:nvSpPr>
            <p:cNvPr name="Freeform 6" id="6"/>
            <p:cNvSpPr/>
            <p:nvPr/>
          </p:nvSpPr>
          <p:spPr>
            <a:xfrm flipH="false" flipV="false" rot="0">
              <a:off x="0" y="0"/>
              <a:ext cx="446365" cy="2709333"/>
            </a:xfrm>
            <a:custGeom>
              <a:avLst/>
              <a:gdLst/>
              <a:ahLst/>
              <a:cxnLst/>
              <a:rect r="r" b="b" t="t" l="l"/>
              <a:pathLst>
                <a:path h="2709333" w="446365">
                  <a:moveTo>
                    <a:pt x="223183" y="0"/>
                  </a:moveTo>
                  <a:lnTo>
                    <a:pt x="223183" y="0"/>
                  </a:lnTo>
                  <a:cubicBezTo>
                    <a:pt x="282374" y="0"/>
                    <a:pt x="339142" y="23514"/>
                    <a:pt x="380996" y="65369"/>
                  </a:cubicBezTo>
                  <a:cubicBezTo>
                    <a:pt x="422851" y="107224"/>
                    <a:pt x="446365" y="163991"/>
                    <a:pt x="446365" y="223183"/>
                  </a:cubicBezTo>
                  <a:lnTo>
                    <a:pt x="446365" y="2486151"/>
                  </a:lnTo>
                  <a:cubicBezTo>
                    <a:pt x="446365" y="2609411"/>
                    <a:pt x="346443" y="2709333"/>
                    <a:pt x="223183" y="2709333"/>
                  </a:cubicBezTo>
                  <a:lnTo>
                    <a:pt x="223183" y="2709333"/>
                  </a:lnTo>
                  <a:cubicBezTo>
                    <a:pt x="99922" y="2709333"/>
                    <a:pt x="0" y="2609411"/>
                    <a:pt x="0" y="2486151"/>
                  </a:cubicBezTo>
                  <a:lnTo>
                    <a:pt x="0" y="223183"/>
                  </a:lnTo>
                  <a:cubicBezTo>
                    <a:pt x="0" y="99922"/>
                    <a:pt x="99922" y="0"/>
                    <a:pt x="223183" y="0"/>
                  </a:cubicBezTo>
                  <a:close/>
                </a:path>
              </a:pathLst>
            </a:custGeom>
            <a:solidFill>
              <a:srgbClr val="0345E4"/>
            </a:solidFill>
          </p:spPr>
        </p:sp>
        <p:sp>
          <p:nvSpPr>
            <p:cNvPr name="TextBox 7" id="7"/>
            <p:cNvSpPr txBox="true"/>
            <p:nvPr/>
          </p:nvSpPr>
          <p:spPr>
            <a:xfrm>
              <a:off x="0" y="-38100"/>
              <a:ext cx="446365" cy="2747433"/>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0" y="7109187"/>
            <a:ext cx="1028700" cy="3177813"/>
            <a:chOff x="0" y="0"/>
            <a:chExt cx="812800" cy="2510865"/>
          </a:xfrm>
        </p:grpSpPr>
        <p:sp>
          <p:nvSpPr>
            <p:cNvPr name="Freeform 9" id="9"/>
            <p:cNvSpPr/>
            <p:nvPr/>
          </p:nvSpPr>
          <p:spPr>
            <a:xfrm flipH="false" flipV="false" rot="0">
              <a:off x="0" y="0"/>
              <a:ext cx="812800" cy="2510865"/>
            </a:xfrm>
            <a:custGeom>
              <a:avLst/>
              <a:gdLst/>
              <a:ahLst/>
              <a:cxnLst/>
              <a:rect r="r" b="b" t="t" l="l"/>
              <a:pathLst>
                <a:path h="2510865" w="812800">
                  <a:moveTo>
                    <a:pt x="0" y="0"/>
                  </a:moveTo>
                  <a:lnTo>
                    <a:pt x="812800" y="0"/>
                  </a:lnTo>
                  <a:lnTo>
                    <a:pt x="812800" y="2510865"/>
                  </a:lnTo>
                  <a:lnTo>
                    <a:pt x="0" y="2510865"/>
                  </a:lnTo>
                  <a:close/>
                </a:path>
              </a:pathLst>
            </a:custGeom>
            <a:solidFill>
              <a:srgbClr val="0345E4"/>
            </a:solidFill>
          </p:spPr>
        </p:sp>
        <p:sp>
          <p:nvSpPr>
            <p:cNvPr name="TextBox 10" id="10"/>
            <p:cNvSpPr txBox="true"/>
            <p:nvPr/>
          </p:nvSpPr>
          <p:spPr>
            <a:xfrm>
              <a:off x="0" y="-38100"/>
              <a:ext cx="812800" cy="2548965"/>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0" y="0"/>
            <a:ext cx="1028700" cy="102870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345E4"/>
            </a:solidFill>
          </p:spPr>
        </p:sp>
        <p:sp>
          <p:nvSpPr>
            <p:cNvPr name="TextBox 13" id="13"/>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7182687" y="2262324"/>
            <a:ext cx="969409" cy="969409"/>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name="TextBox 16" id="16"/>
            <p:cNvSpPr txBox="true"/>
            <p:nvPr/>
          </p:nvSpPr>
          <p:spPr>
            <a:xfrm>
              <a:off x="63500" y="-3175"/>
              <a:ext cx="685800" cy="752475"/>
            </a:xfrm>
            <a:prstGeom prst="rect">
              <a:avLst/>
            </a:prstGeom>
          </p:spPr>
          <p:txBody>
            <a:bodyPr anchor="ctr" rtlCol="false" tIns="44470" lIns="44470" bIns="44470" rIns="44470"/>
            <a:lstStyle/>
            <a:p>
              <a:pPr algn="ctr">
                <a:lnSpc>
                  <a:spcPts val="4759"/>
                </a:lnSpc>
              </a:pPr>
              <a:r>
                <a:rPr lang="en-US" b="true" sz="3399">
                  <a:solidFill>
                    <a:srgbClr val="FFFFFF"/>
                  </a:solidFill>
                  <a:latin typeface="Garet Bold"/>
                  <a:ea typeface="Garet Bold"/>
                  <a:cs typeface="Garet Bold"/>
                  <a:sym typeface="Garet Bold"/>
                </a:rPr>
                <a:t>01</a:t>
              </a:r>
            </a:p>
          </p:txBody>
        </p:sp>
      </p:grpSp>
      <p:grpSp>
        <p:nvGrpSpPr>
          <p:cNvPr name="Group 17" id="17"/>
          <p:cNvGrpSpPr/>
          <p:nvPr/>
        </p:nvGrpSpPr>
        <p:grpSpPr>
          <a:xfrm rot="0">
            <a:off x="7182687" y="5792770"/>
            <a:ext cx="969409" cy="969409"/>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0345E4"/>
            </a:solidFill>
          </p:spPr>
        </p:sp>
        <p:sp>
          <p:nvSpPr>
            <p:cNvPr name="TextBox 19" id="19"/>
            <p:cNvSpPr txBox="true"/>
            <p:nvPr/>
          </p:nvSpPr>
          <p:spPr>
            <a:xfrm>
              <a:off x="63500" y="-3175"/>
              <a:ext cx="685800" cy="752475"/>
            </a:xfrm>
            <a:prstGeom prst="rect">
              <a:avLst/>
            </a:prstGeom>
          </p:spPr>
          <p:txBody>
            <a:bodyPr anchor="ctr" rtlCol="false" tIns="44470" lIns="44470" bIns="44470" rIns="44470"/>
            <a:lstStyle/>
            <a:p>
              <a:pPr algn="ctr">
                <a:lnSpc>
                  <a:spcPts val="4759"/>
                </a:lnSpc>
              </a:pPr>
              <a:r>
                <a:rPr lang="en-US" b="true" sz="3399">
                  <a:solidFill>
                    <a:srgbClr val="FFFFFF"/>
                  </a:solidFill>
                  <a:latin typeface="Garet Bold"/>
                  <a:ea typeface="Garet Bold"/>
                  <a:cs typeface="Garet Bold"/>
                  <a:sym typeface="Garet Bold"/>
                </a:rPr>
                <a:t>02</a:t>
              </a:r>
            </a:p>
          </p:txBody>
        </p:sp>
      </p:grpSp>
      <p:grpSp>
        <p:nvGrpSpPr>
          <p:cNvPr name="Group 20" id="20"/>
          <p:cNvGrpSpPr/>
          <p:nvPr/>
        </p:nvGrpSpPr>
        <p:grpSpPr>
          <a:xfrm rot="0">
            <a:off x="15011231" y="1028700"/>
            <a:ext cx="1652841" cy="1652841"/>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238884" y="0"/>
                  </a:moveTo>
                  <a:lnTo>
                    <a:pt x="573916" y="0"/>
                  </a:lnTo>
                  <a:cubicBezTo>
                    <a:pt x="705848" y="0"/>
                    <a:pt x="812800" y="106952"/>
                    <a:pt x="812800" y="238884"/>
                  </a:cubicBezTo>
                  <a:lnTo>
                    <a:pt x="812800" y="573916"/>
                  </a:lnTo>
                  <a:cubicBezTo>
                    <a:pt x="812800" y="705848"/>
                    <a:pt x="705848" y="812800"/>
                    <a:pt x="573916" y="812800"/>
                  </a:cubicBezTo>
                  <a:lnTo>
                    <a:pt x="238884" y="812800"/>
                  </a:lnTo>
                  <a:cubicBezTo>
                    <a:pt x="106952" y="812800"/>
                    <a:pt x="0" y="705848"/>
                    <a:pt x="0" y="573916"/>
                  </a:cubicBezTo>
                  <a:lnTo>
                    <a:pt x="0" y="238884"/>
                  </a:lnTo>
                  <a:cubicBezTo>
                    <a:pt x="0" y="106952"/>
                    <a:pt x="106952" y="0"/>
                    <a:pt x="238884" y="0"/>
                  </a:cubicBezTo>
                  <a:close/>
                </a:path>
              </a:pathLst>
            </a:custGeom>
            <a:solidFill>
              <a:srgbClr val="0345E4">
                <a:alpha val="29804"/>
              </a:srgbClr>
            </a:solidFill>
          </p:spPr>
        </p:sp>
        <p:sp>
          <p:nvSpPr>
            <p:cNvPr name="TextBox 22" id="22"/>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23" id="23"/>
          <p:cNvGrpSpPr/>
          <p:nvPr/>
        </p:nvGrpSpPr>
        <p:grpSpPr>
          <a:xfrm rot="0">
            <a:off x="14814124" y="816351"/>
            <a:ext cx="771724" cy="771724"/>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0345E4">
                  <a:alpha val="40000"/>
                </a:srgbClr>
              </a:solidFill>
              <a:prstDash val="solid"/>
              <a:miter/>
            </a:ln>
          </p:spPr>
        </p:sp>
        <p:sp>
          <p:nvSpPr>
            <p:cNvPr name="TextBox 25" id="2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6" id="26"/>
          <p:cNvGrpSpPr/>
          <p:nvPr/>
        </p:nvGrpSpPr>
        <p:grpSpPr>
          <a:xfrm rot="0">
            <a:off x="12919457" y="8414693"/>
            <a:ext cx="3744615" cy="3744615"/>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0345E4">
                  <a:alpha val="19608"/>
                </a:srgbClr>
              </a:solidFill>
              <a:prstDash val="solid"/>
              <a:miter/>
            </a:ln>
          </p:spPr>
        </p:sp>
        <p:sp>
          <p:nvSpPr>
            <p:cNvPr name="TextBox 28" id="2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9" id="29"/>
          <p:cNvGrpSpPr>
            <a:grpSpLocks noChangeAspect="true"/>
          </p:cNvGrpSpPr>
          <p:nvPr/>
        </p:nvGrpSpPr>
        <p:grpSpPr>
          <a:xfrm rot="0">
            <a:off x="859960" y="-867714"/>
            <a:ext cx="5416831" cy="12022429"/>
            <a:chOff x="0" y="0"/>
            <a:chExt cx="2858770" cy="6344920"/>
          </a:xfrm>
        </p:grpSpPr>
        <p:sp>
          <p:nvSpPr>
            <p:cNvPr name="Freeform 30" id="30"/>
            <p:cNvSpPr/>
            <p:nvPr/>
          </p:nvSpPr>
          <p:spPr>
            <a:xfrm flipH="false" flipV="false" rot="0">
              <a:off x="0" y="0"/>
              <a:ext cx="2858770" cy="6344920"/>
            </a:xfrm>
            <a:custGeom>
              <a:avLst/>
              <a:gdLst/>
              <a:ahLst/>
              <a:cxnLst/>
              <a:rect r="r" b="b" t="t" l="l"/>
              <a:pathLst>
                <a:path h="6344920" w="2858770">
                  <a:moveTo>
                    <a:pt x="1827530" y="6344920"/>
                  </a:moveTo>
                  <a:lnTo>
                    <a:pt x="0" y="6344920"/>
                  </a:lnTo>
                  <a:lnTo>
                    <a:pt x="0" y="1031240"/>
                  </a:lnTo>
                  <a:cubicBezTo>
                    <a:pt x="0" y="461010"/>
                    <a:pt x="461010" y="0"/>
                    <a:pt x="1031240" y="0"/>
                  </a:cubicBezTo>
                  <a:lnTo>
                    <a:pt x="2858770" y="0"/>
                  </a:lnTo>
                  <a:lnTo>
                    <a:pt x="2858770" y="5313680"/>
                  </a:lnTo>
                  <a:cubicBezTo>
                    <a:pt x="2858770" y="5883910"/>
                    <a:pt x="2397760" y="6344920"/>
                    <a:pt x="1827530" y="6344920"/>
                  </a:cubicBezTo>
                  <a:close/>
                </a:path>
              </a:pathLst>
            </a:custGeom>
            <a:blipFill>
              <a:blip r:embed="rId2"/>
              <a:stretch>
                <a:fillRect l="-136788" t="0" r="-95827" b="0"/>
              </a:stretch>
            </a:blipFill>
          </p:spPr>
        </p:sp>
      </p:grpSp>
      <p:sp>
        <p:nvSpPr>
          <p:cNvPr name="TextBox 31" id="31"/>
          <p:cNvSpPr txBox="true"/>
          <p:nvPr/>
        </p:nvSpPr>
        <p:spPr>
          <a:xfrm rot="0">
            <a:off x="7163204" y="543003"/>
            <a:ext cx="5840606" cy="1509771"/>
          </a:xfrm>
          <a:prstGeom prst="rect">
            <a:avLst/>
          </a:prstGeom>
        </p:spPr>
        <p:txBody>
          <a:bodyPr anchor="t" rtlCol="false" tIns="0" lIns="0" bIns="0" rIns="0">
            <a:spAutoFit/>
          </a:bodyPr>
          <a:lstStyle/>
          <a:p>
            <a:pPr algn="l">
              <a:lnSpc>
                <a:spcPts val="6084"/>
              </a:lnSpc>
            </a:pPr>
            <a:r>
              <a:rPr lang="en-US" b="true" sz="4345">
                <a:solidFill>
                  <a:srgbClr val="000000"/>
                </a:solidFill>
                <a:latin typeface="Garet Bold"/>
                <a:ea typeface="Garet Bold"/>
                <a:cs typeface="Garet Bold"/>
                <a:sym typeface="Garet Bold"/>
              </a:rPr>
              <a:t>PERMASALAHAN &amp; TUJUAN</a:t>
            </a:r>
          </a:p>
        </p:txBody>
      </p:sp>
      <p:sp>
        <p:nvSpPr>
          <p:cNvPr name="Freeform 32" id="32"/>
          <p:cNvSpPr/>
          <p:nvPr/>
        </p:nvSpPr>
        <p:spPr>
          <a:xfrm flipH="false" flipV="false" rot="0">
            <a:off x="13003810" y="234507"/>
            <a:ext cx="2196176" cy="581844"/>
          </a:xfrm>
          <a:custGeom>
            <a:avLst/>
            <a:gdLst/>
            <a:ahLst/>
            <a:cxnLst/>
            <a:rect r="r" b="b" t="t" l="l"/>
            <a:pathLst>
              <a:path h="581844" w="2196176">
                <a:moveTo>
                  <a:pt x="0" y="0"/>
                </a:moveTo>
                <a:lnTo>
                  <a:pt x="2196176" y="0"/>
                </a:lnTo>
                <a:lnTo>
                  <a:pt x="2196176" y="581844"/>
                </a:lnTo>
                <a:lnTo>
                  <a:pt x="0" y="581844"/>
                </a:lnTo>
                <a:lnTo>
                  <a:pt x="0" y="0"/>
                </a:lnTo>
                <a:close/>
              </a:path>
            </a:pathLst>
          </a:custGeom>
          <a:blipFill>
            <a:blip r:embed="rId3"/>
            <a:stretch>
              <a:fillRect l="0" t="0" r="0" b="0"/>
            </a:stretch>
          </a:blipFill>
        </p:spPr>
      </p:sp>
      <p:sp>
        <p:nvSpPr>
          <p:cNvPr name="Freeform 33" id="33"/>
          <p:cNvSpPr/>
          <p:nvPr/>
        </p:nvSpPr>
        <p:spPr>
          <a:xfrm flipH="false" flipV="false" rot="0">
            <a:off x="15380189" y="188750"/>
            <a:ext cx="686062" cy="673358"/>
          </a:xfrm>
          <a:custGeom>
            <a:avLst/>
            <a:gdLst/>
            <a:ahLst/>
            <a:cxnLst/>
            <a:rect r="r" b="b" t="t" l="l"/>
            <a:pathLst>
              <a:path h="673358" w="686062">
                <a:moveTo>
                  <a:pt x="0" y="0"/>
                </a:moveTo>
                <a:lnTo>
                  <a:pt x="686063" y="0"/>
                </a:lnTo>
                <a:lnTo>
                  <a:pt x="686063" y="673357"/>
                </a:lnTo>
                <a:lnTo>
                  <a:pt x="0" y="673357"/>
                </a:lnTo>
                <a:lnTo>
                  <a:pt x="0" y="0"/>
                </a:lnTo>
                <a:close/>
              </a:path>
            </a:pathLst>
          </a:custGeom>
          <a:blipFill>
            <a:blip r:embed="rId4"/>
            <a:stretch>
              <a:fillRect l="0" t="0" r="0" b="0"/>
            </a:stretch>
          </a:blipFill>
        </p:spPr>
      </p:sp>
      <p:sp>
        <p:nvSpPr>
          <p:cNvPr name="Freeform 34" id="34"/>
          <p:cNvSpPr/>
          <p:nvPr/>
        </p:nvSpPr>
        <p:spPr>
          <a:xfrm flipH="false" flipV="false" rot="0">
            <a:off x="16165162" y="202672"/>
            <a:ext cx="645513" cy="645513"/>
          </a:xfrm>
          <a:custGeom>
            <a:avLst/>
            <a:gdLst/>
            <a:ahLst/>
            <a:cxnLst/>
            <a:rect r="r" b="b" t="t" l="l"/>
            <a:pathLst>
              <a:path h="645513" w="645513">
                <a:moveTo>
                  <a:pt x="0" y="0"/>
                </a:moveTo>
                <a:lnTo>
                  <a:pt x="645513" y="0"/>
                </a:lnTo>
                <a:lnTo>
                  <a:pt x="645513" y="645513"/>
                </a:lnTo>
                <a:lnTo>
                  <a:pt x="0" y="645513"/>
                </a:lnTo>
                <a:lnTo>
                  <a:pt x="0" y="0"/>
                </a:lnTo>
                <a:close/>
              </a:path>
            </a:pathLst>
          </a:custGeom>
          <a:blipFill>
            <a:blip r:embed="rId5"/>
            <a:stretch>
              <a:fillRect l="0" t="0" r="0" b="0"/>
            </a:stretch>
          </a:blipFill>
        </p:spPr>
      </p:sp>
      <p:sp>
        <p:nvSpPr>
          <p:cNvPr name="TextBox 35" id="35"/>
          <p:cNvSpPr txBox="true"/>
          <p:nvPr/>
        </p:nvSpPr>
        <p:spPr>
          <a:xfrm rot="0">
            <a:off x="8371398" y="2512078"/>
            <a:ext cx="7351823" cy="422275"/>
          </a:xfrm>
          <a:prstGeom prst="rect">
            <a:avLst/>
          </a:prstGeom>
        </p:spPr>
        <p:txBody>
          <a:bodyPr anchor="t" rtlCol="false" tIns="0" lIns="0" bIns="0" rIns="0">
            <a:spAutoFit/>
          </a:bodyPr>
          <a:lstStyle/>
          <a:p>
            <a:pPr algn="l">
              <a:lnSpc>
                <a:spcPts val="3499"/>
              </a:lnSpc>
            </a:pPr>
            <a:r>
              <a:rPr lang="en-US" sz="2499">
                <a:solidFill>
                  <a:srgbClr val="000000"/>
                </a:solidFill>
                <a:latin typeface="Garet"/>
                <a:ea typeface="Garet"/>
                <a:cs typeface="Garet"/>
                <a:sym typeface="Garet"/>
              </a:rPr>
              <a:t>PERMASALAHAN:</a:t>
            </a:r>
          </a:p>
        </p:txBody>
      </p:sp>
      <p:sp>
        <p:nvSpPr>
          <p:cNvPr name="TextBox 36" id="36"/>
          <p:cNvSpPr txBox="true"/>
          <p:nvPr/>
        </p:nvSpPr>
        <p:spPr>
          <a:xfrm rot="0">
            <a:off x="8371398" y="3115328"/>
            <a:ext cx="8439278" cy="2980690"/>
          </a:xfrm>
          <a:prstGeom prst="rect">
            <a:avLst/>
          </a:prstGeom>
        </p:spPr>
        <p:txBody>
          <a:bodyPr anchor="t" rtlCol="false" tIns="0" lIns="0" bIns="0" rIns="0">
            <a:spAutoFit/>
          </a:bodyPr>
          <a:lstStyle/>
          <a:p>
            <a:pPr algn="just">
              <a:lnSpc>
                <a:spcPts val="2659"/>
              </a:lnSpc>
            </a:pPr>
            <a:r>
              <a:rPr lang="en-US" sz="1899">
                <a:solidFill>
                  <a:srgbClr val="000000"/>
                </a:solidFill>
                <a:latin typeface="Garet"/>
                <a:ea typeface="Garet"/>
                <a:cs typeface="Garet"/>
                <a:sym typeface="Garet"/>
              </a:rPr>
              <a:t>Permasalahan utama dalam pemantauan cuaca saat ini adalah ketergantungan pada perangkat sensor meteorologi yang membutuhkan biaya tinggi dan belum tersedia secara merata di seluruh wilayah. Selain itu, metode pengamatan visual secara manual terhadap kondisi langit masih bersifat subjektif dan kurang efisien, terutama ketika harus menangani data dalam jumlah besar. H</a:t>
            </a:r>
            <a:r>
              <a:rPr lang="en-US" sz="1899">
                <a:solidFill>
                  <a:srgbClr val="000000"/>
                </a:solidFill>
                <a:latin typeface="Garet"/>
                <a:ea typeface="Garet"/>
                <a:cs typeface="Garet"/>
                <a:sym typeface="Garet"/>
              </a:rPr>
              <a:t>al ini menyulitkan proses pemantauan cuaca yang cepat, akurat, dan dapat diandalkan dalam berbagai situasi.</a:t>
            </a:r>
          </a:p>
          <a:p>
            <a:pPr algn="just">
              <a:lnSpc>
                <a:spcPts val="2659"/>
              </a:lnSpc>
            </a:pPr>
          </a:p>
        </p:txBody>
      </p:sp>
      <p:sp>
        <p:nvSpPr>
          <p:cNvPr name="TextBox 37" id="37"/>
          <p:cNvSpPr txBox="true"/>
          <p:nvPr/>
        </p:nvSpPr>
        <p:spPr>
          <a:xfrm rot="0">
            <a:off x="8371398" y="6617199"/>
            <a:ext cx="8439278" cy="2313940"/>
          </a:xfrm>
          <a:prstGeom prst="rect">
            <a:avLst/>
          </a:prstGeom>
        </p:spPr>
        <p:txBody>
          <a:bodyPr anchor="t" rtlCol="false" tIns="0" lIns="0" bIns="0" rIns="0">
            <a:spAutoFit/>
          </a:bodyPr>
          <a:lstStyle/>
          <a:p>
            <a:pPr algn="l" marL="410209" indent="-205105" lvl="1">
              <a:lnSpc>
                <a:spcPts val="2659"/>
              </a:lnSpc>
              <a:buFont typeface="Arial"/>
              <a:buChar char="•"/>
            </a:pPr>
            <a:r>
              <a:rPr lang="en-US" sz="1899">
                <a:solidFill>
                  <a:srgbClr val="000000"/>
                </a:solidFill>
                <a:latin typeface="Garet"/>
                <a:ea typeface="Garet"/>
                <a:cs typeface="Garet"/>
                <a:sym typeface="Garet"/>
              </a:rPr>
              <a:t>Membangun model </a:t>
            </a:r>
            <a:r>
              <a:rPr lang="en-US" sz="1899">
                <a:solidFill>
                  <a:srgbClr val="000000"/>
                </a:solidFill>
                <a:latin typeface="Garet"/>
                <a:ea typeface="Garet"/>
                <a:cs typeface="Garet"/>
                <a:sym typeface="Garet"/>
              </a:rPr>
              <a:t>Convolutional Neural Network (CNN) untuk mendeteksi jenis cuaca dari citra </a:t>
            </a:r>
            <a:r>
              <a:rPr lang="en-US" sz="1899">
                <a:solidFill>
                  <a:srgbClr val="000000"/>
                </a:solidFill>
                <a:latin typeface="Garet"/>
                <a:ea typeface="Garet"/>
                <a:cs typeface="Garet"/>
                <a:sym typeface="Garet"/>
              </a:rPr>
              <a:t>langit</a:t>
            </a:r>
          </a:p>
          <a:p>
            <a:pPr algn="l" marL="410209" indent="-205105" lvl="1">
              <a:lnSpc>
                <a:spcPts val="2659"/>
              </a:lnSpc>
              <a:buFont typeface="Arial"/>
              <a:buChar char="•"/>
            </a:pPr>
            <a:r>
              <a:rPr lang="en-US" sz="1899">
                <a:solidFill>
                  <a:srgbClr val="000000"/>
                </a:solidFill>
                <a:latin typeface="Garet"/>
                <a:ea typeface="Garet"/>
                <a:cs typeface="Garet"/>
                <a:sym typeface="Garet"/>
              </a:rPr>
              <a:t>Mengklasifikasikan cuaca ke dalam beberapa kategori seperti cerah, berawan, hujan, dan matahari terbit</a:t>
            </a:r>
          </a:p>
          <a:p>
            <a:pPr algn="l" marL="410209" indent="-205105" lvl="1">
              <a:lnSpc>
                <a:spcPts val="2659"/>
              </a:lnSpc>
              <a:buFont typeface="Arial"/>
              <a:buChar char="•"/>
            </a:pPr>
            <a:r>
              <a:rPr lang="en-US" sz="1899">
                <a:solidFill>
                  <a:srgbClr val="000000"/>
                </a:solidFill>
                <a:latin typeface="Garet"/>
                <a:ea typeface="Garet"/>
                <a:cs typeface="Garet"/>
                <a:sym typeface="Garet"/>
              </a:rPr>
              <a:t>Mengevaluasi performa model menggunakan data validasi</a:t>
            </a:r>
          </a:p>
          <a:p>
            <a:pPr algn="l" marL="410209" indent="-205105" lvl="1">
              <a:lnSpc>
                <a:spcPts val="2659"/>
              </a:lnSpc>
              <a:buFont typeface="Arial"/>
              <a:buChar char="•"/>
            </a:pPr>
            <a:r>
              <a:rPr lang="en-US" sz="1899">
                <a:solidFill>
                  <a:srgbClr val="000000"/>
                </a:solidFill>
                <a:latin typeface="Garet"/>
                <a:ea typeface="Garet"/>
                <a:cs typeface="Garet"/>
                <a:sym typeface="Garet"/>
              </a:rPr>
              <a:t>Menampilkan hasil prediksi cuaca dari citra baru</a:t>
            </a:r>
          </a:p>
          <a:p>
            <a:pPr algn="l">
              <a:lnSpc>
                <a:spcPts val="2659"/>
              </a:lnSpc>
            </a:pPr>
          </a:p>
        </p:txBody>
      </p:sp>
      <p:sp>
        <p:nvSpPr>
          <p:cNvPr name="TextBox 38" id="38"/>
          <p:cNvSpPr txBox="true"/>
          <p:nvPr/>
        </p:nvSpPr>
        <p:spPr>
          <a:xfrm rot="0">
            <a:off x="8371398" y="6042524"/>
            <a:ext cx="7351823" cy="422275"/>
          </a:xfrm>
          <a:prstGeom prst="rect">
            <a:avLst/>
          </a:prstGeom>
        </p:spPr>
        <p:txBody>
          <a:bodyPr anchor="t" rtlCol="false" tIns="0" lIns="0" bIns="0" rIns="0">
            <a:spAutoFit/>
          </a:bodyPr>
          <a:lstStyle/>
          <a:p>
            <a:pPr algn="l">
              <a:lnSpc>
                <a:spcPts val="3499"/>
              </a:lnSpc>
            </a:pPr>
            <a:r>
              <a:rPr lang="en-US" sz="2499">
                <a:solidFill>
                  <a:srgbClr val="000000"/>
                </a:solidFill>
                <a:latin typeface="Garet"/>
                <a:ea typeface="Garet"/>
                <a:cs typeface="Garet"/>
                <a:sym typeface="Garet"/>
              </a:rPr>
              <a:t>TUJUAN: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6770594" cy="10287000"/>
            <a:chOff x="0" y="0"/>
            <a:chExt cx="1783202" cy="2709333"/>
          </a:xfrm>
        </p:grpSpPr>
        <p:sp>
          <p:nvSpPr>
            <p:cNvPr name="Freeform 3" id="3"/>
            <p:cNvSpPr/>
            <p:nvPr/>
          </p:nvSpPr>
          <p:spPr>
            <a:xfrm flipH="false" flipV="false" rot="0">
              <a:off x="0" y="0"/>
              <a:ext cx="1783202" cy="2709333"/>
            </a:xfrm>
            <a:custGeom>
              <a:avLst/>
              <a:gdLst/>
              <a:ahLst/>
              <a:cxnLst/>
              <a:rect r="r" b="b" t="t" l="l"/>
              <a:pathLst>
                <a:path h="2709333" w="1783202">
                  <a:moveTo>
                    <a:pt x="0" y="0"/>
                  </a:moveTo>
                  <a:lnTo>
                    <a:pt x="1783202" y="0"/>
                  </a:lnTo>
                  <a:lnTo>
                    <a:pt x="1783202" y="2709333"/>
                  </a:lnTo>
                  <a:lnTo>
                    <a:pt x="0" y="2709333"/>
                  </a:lnTo>
                  <a:close/>
                </a:path>
              </a:pathLst>
            </a:custGeom>
            <a:solidFill>
              <a:srgbClr val="0345E4"/>
            </a:solidFill>
          </p:spPr>
        </p:sp>
        <p:sp>
          <p:nvSpPr>
            <p:cNvPr name="TextBox 4" id="4"/>
            <p:cNvSpPr txBox="true"/>
            <p:nvPr/>
          </p:nvSpPr>
          <p:spPr>
            <a:xfrm>
              <a:off x="0" y="-38100"/>
              <a:ext cx="1783202" cy="2747433"/>
            </a:xfrm>
            <a:prstGeom prst="rect">
              <a:avLst/>
            </a:prstGeom>
          </p:spPr>
          <p:txBody>
            <a:bodyPr anchor="ctr" rtlCol="false" tIns="50800" lIns="50800" bIns="50800" rIns="50800"/>
            <a:lstStyle/>
            <a:p>
              <a:pPr algn="ctr">
                <a:lnSpc>
                  <a:spcPts val="2659"/>
                </a:lnSpc>
              </a:pPr>
            </a:p>
          </p:txBody>
        </p:sp>
      </p:grpSp>
      <p:sp>
        <p:nvSpPr>
          <p:cNvPr name="AutoShape 5" id="5"/>
          <p:cNvSpPr/>
          <p:nvPr/>
        </p:nvSpPr>
        <p:spPr>
          <a:xfrm>
            <a:off x="916626" y="3944032"/>
            <a:ext cx="1310100" cy="0"/>
          </a:xfrm>
          <a:prstGeom prst="line">
            <a:avLst/>
          </a:prstGeom>
          <a:ln cap="flat" w="95250">
            <a:solidFill>
              <a:srgbClr val="FFFFFF"/>
            </a:solidFill>
            <a:prstDash val="solid"/>
            <a:headEnd type="none" len="sm" w="sm"/>
            <a:tailEnd type="none" len="sm" w="sm"/>
          </a:ln>
        </p:spPr>
      </p:sp>
      <p:grpSp>
        <p:nvGrpSpPr>
          <p:cNvPr name="Group 6" id="6"/>
          <p:cNvGrpSpPr/>
          <p:nvPr/>
        </p:nvGrpSpPr>
        <p:grpSpPr>
          <a:xfrm rot="0">
            <a:off x="15740861" y="6749958"/>
            <a:ext cx="4596322" cy="4596322"/>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62000" cap="sq">
              <a:solidFill>
                <a:srgbClr val="F6F6F6"/>
              </a:solidFill>
              <a:prstDash val="solid"/>
              <a:miter/>
            </a:ln>
          </p:spPr>
        </p:sp>
        <p:sp>
          <p:nvSpPr>
            <p:cNvPr name="TextBox 8" id="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5400000">
            <a:off x="8278430" y="340111"/>
            <a:ext cx="1479329" cy="1479329"/>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266903" y="0"/>
                  </a:moveTo>
                  <a:lnTo>
                    <a:pt x="545897" y="0"/>
                  </a:lnTo>
                  <a:cubicBezTo>
                    <a:pt x="693303" y="0"/>
                    <a:pt x="812800" y="119497"/>
                    <a:pt x="812800" y="266903"/>
                  </a:cubicBezTo>
                  <a:lnTo>
                    <a:pt x="812800" y="545897"/>
                  </a:lnTo>
                  <a:cubicBezTo>
                    <a:pt x="812800" y="693303"/>
                    <a:pt x="693303" y="812800"/>
                    <a:pt x="545897" y="812800"/>
                  </a:cubicBezTo>
                  <a:lnTo>
                    <a:pt x="266903" y="812800"/>
                  </a:lnTo>
                  <a:cubicBezTo>
                    <a:pt x="119497" y="812800"/>
                    <a:pt x="0" y="693303"/>
                    <a:pt x="0" y="545897"/>
                  </a:cubicBezTo>
                  <a:lnTo>
                    <a:pt x="0" y="266903"/>
                  </a:lnTo>
                  <a:cubicBezTo>
                    <a:pt x="0" y="119497"/>
                    <a:pt x="119497" y="0"/>
                    <a:pt x="266903" y="0"/>
                  </a:cubicBezTo>
                  <a:close/>
                </a:path>
              </a:pathLst>
            </a:custGeom>
            <a:solidFill>
              <a:srgbClr val="0345E4">
                <a:alpha val="29804"/>
              </a:srgbClr>
            </a:solidFill>
          </p:spPr>
        </p:sp>
        <p:sp>
          <p:nvSpPr>
            <p:cNvPr name="TextBox 11" id="11"/>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5400000">
            <a:off x="9293368" y="1219358"/>
            <a:ext cx="771724" cy="771724"/>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0345E4">
                  <a:alpha val="40000"/>
                </a:srgbClr>
              </a:solidFill>
              <a:prstDash val="solid"/>
              <a:miter/>
            </a:ln>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5400000">
            <a:off x="5324660" y="9048119"/>
            <a:ext cx="596043" cy="596043"/>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FFFFFF"/>
              </a:solidFill>
              <a:prstDash val="solid"/>
              <a:miter/>
            </a:ln>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18" id="18"/>
          <p:cNvSpPr/>
          <p:nvPr/>
        </p:nvSpPr>
        <p:spPr>
          <a:xfrm flipH="false" flipV="false" rot="0">
            <a:off x="13782075" y="340111"/>
            <a:ext cx="2112543" cy="559687"/>
          </a:xfrm>
          <a:custGeom>
            <a:avLst/>
            <a:gdLst/>
            <a:ahLst/>
            <a:cxnLst/>
            <a:rect r="r" b="b" t="t" l="l"/>
            <a:pathLst>
              <a:path h="559687" w="2112543">
                <a:moveTo>
                  <a:pt x="0" y="0"/>
                </a:moveTo>
                <a:lnTo>
                  <a:pt x="2112543" y="0"/>
                </a:lnTo>
                <a:lnTo>
                  <a:pt x="2112543" y="559687"/>
                </a:lnTo>
                <a:lnTo>
                  <a:pt x="0" y="559687"/>
                </a:lnTo>
                <a:lnTo>
                  <a:pt x="0" y="0"/>
                </a:lnTo>
                <a:close/>
              </a:path>
            </a:pathLst>
          </a:custGeom>
          <a:blipFill>
            <a:blip r:embed="rId2"/>
            <a:stretch>
              <a:fillRect l="0" t="0" r="0" b="0"/>
            </a:stretch>
          </a:blipFill>
        </p:spPr>
      </p:sp>
      <p:sp>
        <p:nvSpPr>
          <p:cNvPr name="Freeform 19" id="19"/>
          <p:cNvSpPr/>
          <p:nvPr/>
        </p:nvSpPr>
        <p:spPr>
          <a:xfrm flipH="false" flipV="false" rot="0">
            <a:off x="16084822" y="269354"/>
            <a:ext cx="686062" cy="673358"/>
          </a:xfrm>
          <a:custGeom>
            <a:avLst/>
            <a:gdLst/>
            <a:ahLst/>
            <a:cxnLst/>
            <a:rect r="r" b="b" t="t" l="l"/>
            <a:pathLst>
              <a:path h="673358" w="686062">
                <a:moveTo>
                  <a:pt x="0" y="0"/>
                </a:moveTo>
                <a:lnTo>
                  <a:pt x="686063" y="0"/>
                </a:lnTo>
                <a:lnTo>
                  <a:pt x="686063" y="673357"/>
                </a:lnTo>
                <a:lnTo>
                  <a:pt x="0" y="673357"/>
                </a:lnTo>
                <a:lnTo>
                  <a:pt x="0" y="0"/>
                </a:lnTo>
                <a:close/>
              </a:path>
            </a:pathLst>
          </a:custGeom>
          <a:blipFill>
            <a:blip r:embed="rId3"/>
            <a:stretch>
              <a:fillRect l="0" t="0" r="0" b="0"/>
            </a:stretch>
          </a:blipFill>
        </p:spPr>
      </p:sp>
      <p:sp>
        <p:nvSpPr>
          <p:cNvPr name="Freeform 20" id="20"/>
          <p:cNvSpPr/>
          <p:nvPr/>
        </p:nvSpPr>
        <p:spPr>
          <a:xfrm flipH="false" flipV="false" rot="0">
            <a:off x="16878998" y="297198"/>
            <a:ext cx="645513" cy="645513"/>
          </a:xfrm>
          <a:custGeom>
            <a:avLst/>
            <a:gdLst/>
            <a:ahLst/>
            <a:cxnLst/>
            <a:rect r="r" b="b" t="t" l="l"/>
            <a:pathLst>
              <a:path h="645513" w="645513">
                <a:moveTo>
                  <a:pt x="0" y="0"/>
                </a:moveTo>
                <a:lnTo>
                  <a:pt x="645513" y="0"/>
                </a:lnTo>
                <a:lnTo>
                  <a:pt x="645513" y="645513"/>
                </a:lnTo>
                <a:lnTo>
                  <a:pt x="0" y="645513"/>
                </a:lnTo>
                <a:lnTo>
                  <a:pt x="0" y="0"/>
                </a:lnTo>
                <a:close/>
              </a:path>
            </a:pathLst>
          </a:custGeom>
          <a:blipFill>
            <a:blip r:embed="rId4"/>
            <a:stretch>
              <a:fillRect l="0" t="0" r="0" b="0"/>
            </a:stretch>
          </a:blipFill>
        </p:spPr>
      </p:sp>
      <p:sp>
        <p:nvSpPr>
          <p:cNvPr name="Freeform 21" id="21"/>
          <p:cNvSpPr/>
          <p:nvPr/>
        </p:nvSpPr>
        <p:spPr>
          <a:xfrm flipH="false" flipV="false" rot="0">
            <a:off x="7099682" y="4924429"/>
            <a:ext cx="9274245" cy="874929"/>
          </a:xfrm>
          <a:custGeom>
            <a:avLst/>
            <a:gdLst/>
            <a:ahLst/>
            <a:cxnLst/>
            <a:rect r="r" b="b" t="t" l="l"/>
            <a:pathLst>
              <a:path h="874929" w="9274245">
                <a:moveTo>
                  <a:pt x="0" y="0"/>
                </a:moveTo>
                <a:lnTo>
                  <a:pt x="9274244" y="0"/>
                </a:lnTo>
                <a:lnTo>
                  <a:pt x="9274244" y="874929"/>
                </a:lnTo>
                <a:lnTo>
                  <a:pt x="0" y="874929"/>
                </a:lnTo>
                <a:lnTo>
                  <a:pt x="0" y="0"/>
                </a:lnTo>
                <a:close/>
              </a:path>
            </a:pathLst>
          </a:custGeom>
          <a:blipFill>
            <a:blip r:embed="rId5"/>
            <a:stretch>
              <a:fillRect l="0" t="0" r="0" b="0"/>
            </a:stretch>
          </a:blipFill>
        </p:spPr>
      </p:sp>
      <p:sp>
        <p:nvSpPr>
          <p:cNvPr name="TextBox 22" id="22"/>
          <p:cNvSpPr txBox="true"/>
          <p:nvPr/>
        </p:nvSpPr>
        <p:spPr>
          <a:xfrm rot="0">
            <a:off x="916626" y="952500"/>
            <a:ext cx="5465228" cy="2333626"/>
          </a:xfrm>
          <a:prstGeom prst="rect">
            <a:avLst/>
          </a:prstGeom>
        </p:spPr>
        <p:txBody>
          <a:bodyPr anchor="t" rtlCol="false" tIns="0" lIns="0" bIns="0" rIns="0">
            <a:spAutoFit/>
          </a:bodyPr>
          <a:lstStyle/>
          <a:p>
            <a:pPr algn="l">
              <a:lnSpc>
                <a:spcPts val="6299"/>
              </a:lnSpc>
            </a:pPr>
            <a:r>
              <a:rPr lang="en-US" b="true" sz="4499" spc="89">
                <a:solidFill>
                  <a:srgbClr val="FFFFFF"/>
                </a:solidFill>
                <a:latin typeface="Garet Bold"/>
                <a:ea typeface="Garet Bold"/>
                <a:cs typeface="Garet Bold"/>
                <a:sym typeface="Garet Bold"/>
              </a:rPr>
              <a:t>PROGRAM: PENGAMBILAN DATASET</a:t>
            </a:r>
          </a:p>
        </p:txBody>
      </p:sp>
      <p:sp>
        <p:nvSpPr>
          <p:cNvPr name="TextBox 23" id="23"/>
          <p:cNvSpPr txBox="true"/>
          <p:nvPr/>
        </p:nvSpPr>
        <p:spPr>
          <a:xfrm rot="0">
            <a:off x="7099682" y="6673758"/>
            <a:ext cx="9577150" cy="1369695"/>
          </a:xfrm>
          <a:prstGeom prst="rect">
            <a:avLst/>
          </a:prstGeom>
        </p:spPr>
        <p:txBody>
          <a:bodyPr anchor="t" rtlCol="false" tIns="0" lIns="0" bIns="0" rIns="0">
            <a:spAutoFit/>
          </a:bodyPr>
          <a:lstStyle/>
          <a:p>
            <a:pPr algn="just" marL="0" indent="0" lvl="0">
              <a:lnSpc>
                <a:spcPts val="3720"/>
              </a:lnSpc>
            </a:pPr>
            <a:r>
              <a:rPr lang="en-US" sz="2400">
                <a:solidFill>
                  <a:srgbClr val="000000"/>
                </a:solidFill>
                <a:latin typeface="Open Sans"/>
                <a:ea typeface="Open Sans"/>
                <a:cs typeface="Open Sans"/>
                <a:sym typeface="Open Sans"/>
              </a:rPr>
              <a:t>Fungsi dari kode ini adalah Mengunduh dataset citra langit dari Kaggle secara langsung ke dalam proyek. Dataset ini berisi gambar cuaca dengan 4 kelas: Cloudy, Rain, Shine, dan Sunrise.</a:t>
            </a:r>
          </a:p>
        </p:txBody>
      </p:sp>
      <p:sp>
        <p:nvSpPr>
          <p:cNvPr name="TextBox 24" id="24"/>
          <p:cNvSpPr txBox="true"/>
          <p:nvPr/>
        </p:nvSpPr>
        <p:spPr>
          <a:xfrm rot="0">
            <a:off x="7099682" y="2030730"/>
            <a:ext cx="9577150" cy="2303145"/>
          </a:xfrm>
          <a:prstGeom prst="rect">
            <a:avLst/>
          </a:prstGeom>
        </p:spPr>
        <p:txBody>
          <a:bodyPr anchor="t" rtlCol="false" tIns="0" lIns="0" bIns="0" rIns="0">
            <a:spAutoFit/>
          </a:bodyPr>
          <a:lstStyle/>
          <a:p>
            <a:pPr algn="just" marL="0" indent="0" lvl="0">
              <a:lnSpc>
                <a:spcPts val="3720"/>
              </a:lnSpc>
            </a:pPr>
            <a:r>
              <a:rPr lang="en-US" sz="2400">
                <a:solidFill>
                  <a:srgbClr val="000000"/>
                </a:solidFill>
                <a:latin typeface="Open Sans"/>
                <a:ea typeface="Open Sans"/>
                <a:cs typeface="Open Sans"/>
                <a:sym typeface="Open Sans"/>
              </a:rPr>
              <a:t>Sebelum membangun model CNN, langkah pertama yang kami lakukan adalah mengambil dataset yang akan digunakan sebagai data latih dan validasi.. Dalam proyek ini, kami menggunakan dataset citra langit dari Kaggle, yang berisi gambar dengan empat kategori cuaca: Cloudy, Rain, Shine, dan Sunrise.</a:t>
            </a:r>
          </a:p>
        </p:txBody>
      </p:sp>
      <p:sp>
        <p:nvSpPr>
          <p:cNvPr name="TextBox 25" id="25"/>
          <p:cNvSpPr txBox="true"/>
          <p:nvPr/>
        </p:nvSpPr>
        <p:spPr>
          <a:xfrm rot="0">
            <a:off x="7277973" y="5875558"/>
            <a:ext cx="9095954" cy="396240"/>
          </a:xfrm>
          <a:prstGeom prst="rect">
            <a:avLst/>
          </a:prstGeom>
        </p:spPr>
        <p:txBody>
          <a:bodyPr anchor="t" rtlCol="false" tIns="0" lIns="0" bIns="0" rIns="0">
            <a:spAutoFit/>
          </a:bodyPr>
          <a:lstStyle/>
          <a:p>
            <a:pPr algn="just">
              <a:lnSpc>
                <a:spcPts val="3359"/>
              </a:lnSpc>
            </a:pPr>
            <a:r>
              <a:rPr lang="en-US" sz="2400">
                <a:solidFill>
                  <a:srgbClr val="000000"/>
                </a:solidFill>
                <a:latin typeface="Canva Sans"/>
                <a:ea typeface="Canva Sans"/>
                <a:cs typeface="Canva Sans"/>
                <a:sym typeface="Canva Sans"/>
              </a:rPr>
              <a:t>(untuk outputnya nanti ditunjukan dan dijelaskan di program)</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9050" y="0"/>
            <a:ext cx="6416679" cy="10287000"/>
            <a:chOff x="0" y="0"/>
            <a:chExt cx="1689989" cy="2709333"/>
          </a:xfrm>
        </p:grpSpPr>
        <p:sp>
          <p:nvSpPr>
            <p:cNvPr name="Freeform 3" id="3"/>
            <p:cNvSpPr/>
            <p:nvPr/>
          </p:nvSpPr>
          <p:spPr>
            <a:xfrm flipH="false" flipV="false" rot="0">
              <a:off x="0" y="0"/>
              <a:ext cx="1689989" cy="2709333"/>
            </a:xfrm>
            <a:custGeom>
              <a:avLst/>
              <a:gdLst/>
              <a:ahLst/>
              <a:cxnLst/>
              <a:rect r="r" b="b" t="t" l="l"/>
              <a:pathLst>
                <a:path h="2709333" w="1689989">
                  <a:moveTo>
                    <a:pt x="0" y="0"/>
                  </a:moveTo>
                  <a:lnTo>
                    <a:pt x="1689989" y="0"/>
                  </a:lnTo>
                  <a:lnTo>
                    <a:pt x="1689989" y="2709333"/>
                  </a:lnTo>
                  <a:lnTo>
                    <a:pt x="0" y="2709333"/>
                  </a:lnTo>
                  <a:close/>
                </a:path>
              </a:pathLst>
            </a:custGeom>
            <a:solidFill>
              <a:srgbClr val="0345E4"/>
            </a:solidFill>
          </p:spPr>
        </p:sp>
        <p:sp>
          <p:nvSpPr>
            <p:cNvPr name="TextBox 4" id="4"/>
            <p:cNvSpPr txBox="true"/>
            <p:nvPr/>
          </p:nvSpPr>
          <p:spPr>
            <a:xfrm>
              <a:off x="0" y="-38100"/>
              <a:ext cx="1689989" cy="2747433"/>
            </a:xfrm>
            <a:prstGeom prst="rect">
              <a:avLst/>
            </a:prstGeom>
          </p:spPr>
          <p:txBody>
            <a:bodyPr anchor="ctr" rtlCol="false" tIns="50800" lIns="50800" bIns="50800" rIns="50800"/>
            <a:lstStyle/>
            <a:p>
              <a:pPr algn="ctr">
                <a:lnSpc>
                  <a:spcPts val="2659"/>
                </a:lnSpc>
              </a:pPr>
            </a:p>
          </p:txBody>
        </p:sp>
      </p:grpSp>
      <p:sp>
        <p:nvSpPr>
          <p:cNvPr name="AutoShape 5" id="5"/>
          <p:cNvSpPr/>
          <p:nvPr/>
        </p:nvSpPr>
        <p:spPr>
          <a:xfrm>
            <a:off x="1028700" y="3174442"/>
            <a:ext cx="1310100" cy="0"/>
          </a:xfrm>
          <a:prstGeom prst="line">
            <a:avLst/>
          </a:prstGeom>
          <a:ln cap="flat" w="95250">
            <a:solidFill>
              <a:srgbClr val="FFFFFF"/>
            </a:solidFill>
            <a:prstDash val="solid"/>
            <a:headEnd type="none" len="sm" w="sm"/>
            <a:tailEnd type="none" len="sm" w="sm"/>
          </a:ln>
        </p:spPr>
      </p:sp>
      <p:sp>
        <p:nvSpPr>
          <p:cNvPr name="Freeform 6" id="6"/>
          <p:cNvSpPr/>
          <p:nvPr/>
        </p:nvSpPr>
        <p:spPr>
          <a:xfrm flipH="false" flipV="false" rot="0">
            <a:off x="13530708" y="469013"/>
            <a:ext cx="2112543" cy="559687"/>
          </a:xfrm>
          <a:custGeom>
            <a:avLst/>
            <a:gdLst/>
            <a:ahLst/>
            <a:cxnLst/>
            <a:rect r="r" b="b" t="t" l="l"/>
            <a:pathLst>
              <a:path h="559687" w="2112543">
                <a:moveTo>
                  <a:pt x="0" y="0"/>
                </a:moveTo>
                <a:lnTo>
                  <a:pt x="2112544" y="0"/>
                </a:lnTo>
                <a:lnTo>
                  <a:pt x="2112544" y="559687"/>
                </a:lnTo>
                <a:lnTo>
                  <a:pt x="0" y="559687"/>
                </a:lnTo>
                <a:lnTo>
                  <a:pt x="0" y="0"/>
                </a:lnTo>
                <a:close/>
              </a:path>
            </a:pathLst>
          </a:custGeom>
          <a:blipFill>
            <a:blip r:embed="rId2"/>
            <a:stretch>
              <a:fillRect l="0" t="0" r="0" b="0"/>
            </a:stretch>
          </a:blipFill>
        </p:spPr>
      </p:sp>
      <p:sp>
        <p:nvSpPr>
          <p:cNvPr name="Freeform 7" id="7"/>
          <p:cNvSpPr/>
          <p:nvPr/>
        </p:nvSpPr>
        <p:spPr>
          <a:xfrm flipH="false" flipV="false" rot="0">
            <a:off x="15786127" y="412178"/>
            <a:ext cx="686062" cy="673358"/>
          </a:xfrm>
          <a:custGeom>
            <a:avLst/>
            <a:gdLst/>
            <a:ahLst/>
            <a:cxnLst/>
            <a:rect r="r" b="b" t="t" l="l"/>
            <a:pathLst>
              <a:path h="673358" w="686062">
                <a:moveTo>
                  <a:pt x="0" y="0"/>
                </a:moveTo>
                <a:lnTo>
                  <a:pt x="686062" y="0"/>
                </a:lnTo>
                <a:lnTo>
                  <a:pt x="686062" y="673357"/>
                </a:lnTo>
                <a:lnTo>
                  <a:pt x="0" y="673357"/>
                </a:lnTo>
                <a:lnTo>
                  <a:pt x="0" y="0"/>
                </a:lnTo>
                <a:close/>
              </a:path>
            </a:pathLst>
          </a:custGeom>
          <a:blipFill>
            <a:blip r:embed="rId3"/>
            <a:stretch>
              <a:fillRect l="0" t="0" r="0" b="0"/>
            </a:stretch>
          </a:blipFill>
        </p:spPr>
      </p:sp>
      <p:sp>
        <p:nvSpPr>
          <p:cNvPr name="Freeform 8" id="8"/>
          <p:cNvSpPr/>
          <p:nvPr/>
        </p:nvSpPr>
        <p:spPr>
          <a:xfrm flipH="false" flipV="false" rot="0">
            <a:off x="16613787" y="426100"/>
            <a:ext cx="645513" cy="645513"/>
          </a:xfrm>
          <a:custGeom>
            <a:avLst/>
            <a:gdLst/>
            <a:ahLst/>
            <a:cxnLst/>
            <a:rect r="r" b="b" t="t" l="l"/>
            <a:pathLst>
              <a:path h="645513" w="645513">
                <a:moveTo>
                  <a:pt x="0" y="0"/>
                </a:moveTo>
                <a:lnTo>
                  <a:pt x="645513" y="0"/>
                </a:lnTo>
                <a:lnTo>
                  <a:pt x="645513" y="645513"/>
                </a:lnTo>
                <a:lnTo>
                  <a:pt x="0" y="645513"/>
                </a:lnTo>
                <a:lnTo>
                  <a:pt x="0" y="0"/>
                </a:lnTo>
                <a:close/>
              </a:path>
            </a:pathLst>
          </a:custGeom>
          <a:blipFill>
            <a:blip r:embed="rId4"/>
            <a:stretch>
              <a:fillRect l="0" t="0" r="0" b="0"/>
            </a:stretch>
          </a:blipFill>
        </p:spPr>
      </p:sp>
      <p:sp>
        <p:nvSpPr>
          <p:cNvPr name="Freeform 9" id="9"/>
          <p:cNvSpPr/>
          <p:nvPr/>
        </p:nvSpPr>
        <p:spPr>
          <a:xfrm flipH="false" flipV="false" rot="0">
            <a:off x="7606345" y="4683988"/>
            <a:ext cx="9007441" cy="4574312"/>
          </a:xfrm>
          <a:custGeom>
            <a:avLst/>
            <a:gdLst/>
            <a:ahLst/>
            <a:cxnLst/>
            <a:rect r="r" b="b" t="t" l="l"/>
            <a:pathLst>
              <a:path h="4574312" w="9007441">
                <a:moveTo>
                  <a:pt x="0" y="0"/>
                </a:moveTo>
                <a:lnTo>
                  <a:pt x="9007442" y="0"/>
                </a:lnTo>
                <a:lnTo>
                  <a:pt x="9007442" y="4574312"/>
                </a:lnTo>
                <a:lnTo>
                  <a:pt x="0" y="4574312"/>
                </a:lnTo>
                <a:lnTo>
                  <a:pt x="0" y="0"/>
                </a:lnTo>
                <a:close/>
              </a:path>
            </a:pathLst>
          </a:custGeom>
          <a:blipFill>
            <a:blip r:embed="rId5"/>
            <a:stretch>
              <a:fillRect l="0" t="0" r="0" b="0"/>
            </a:stretch>
          </a:blipFill>
        </p:spPr>
      </p:sp>
      <p:sp>
        <p:nvSpPr>
          <p:cNvPr name="TextBox 10" id="10"/>
          <p:cNvSpPr txBox="true"/>
          <p:nvPr/>
        </p:nvSpPr>
        <p:spPr>
          <a:xfrm rot="0">
            <a:off x="1028700" y="952500"/>
            <a:ext cx="5310700" cy="1562100"/>
          </a:xfrm>
          <a:prstGeom prst="rect">
            <a:avLst/>
          </a:prstGeom>
        </p:spPr>
        <p:txBody>
          <a:bodyPr anchor="t" rtlCol="false" tIns="0" lIns="0" bIns="0" rIns="0">
            <a:spAutoFit/>
          </a:bodyPr>
          <a:lstStyle/>
          <a:p>
            <a:pPr algn="l">
              <a:lnSpc>
                <a:spcPts val="6299"/>
              </a:lnSpc>
            </a:pPr>
            <a:r>
              <a:rPr lang="en-US" b="true" sz="4500" spc="89">
                <a:solidFill>
                  <a:srgbClr val="FFFFFF"/>
                </a:solidFill>
                <a:latin typeface="Garet Bold"/>
                <a:ea typeface="Garet Bold"/>
                <a:cs typeface="Garet Bold"/>
                <a:sym typeface="Garet Bold"/>
              </a:rPr>
              <a:t>PREPROCESSING DATA</a:t>
            </a:r>
          </a:p>
        </p:txBody>
      </p:sp>
      <p:sp>
        <p:nvSpPr>
          <p:cNvPr name="TextBox 11" id="11"/>
          <p:cNvSpPr txBox="true"/>
          <p:nvPr/>
        </p:nvSpPr>
        <p:spPr>
          <a:xfrm rot="0">
            <a:off x="6635810" y="1538047"/>
            <a:ext cx="10300733" cy="3329940"/>
          </a:xfrm>
          <a:prstGeom prst="rect">
            <a:avLst/>
          </a:prstGeom>
        </p:spPr>
        <p:txBody>
          <a:bodyPr anchor="t" rtlCol="false" tIns="0" lIns="0" bIns="0" rIns="0">
            <a:spAutoFit/>
          </a:bodyPr>
          <a:lstStyle/>
          <a:p>
            <a:pPr algn="just">
              <a:lnSpc>
                <a:spcPts val="3359"/>
              </a:lnSpc>
            </a:pPr>
            <a:r>
              <a:rPr lang="en-US" sz="2400">
                <a:solidFill>
                  <a:srgbClr val="000000"/>
                </a:solidFill>
                <a:latin typeface="Canva Sans"/>
                <a:ea typeface="Canva Sans"/>
                <a:cs typeface="Canva Sans"/>
                <a:sym typeface="Canva Sans"/>
              </a:rPr>
              <a:t>Sebelum digunakan untuk pelatihan model, dataset melalui beberapa tahap pra-pemrosesan, yaitu:</a:t>
            </a:r>
          </a:p>
          <a:p>
            <a:pPr algn="just" marL="518160" indent="-259080" lvl="1">
              <a:lnSpc>
                <a:spcPts val="3359"/>
              </a:lnSpc>
              <a:buFont typeface="Arial"/>
              <a:buChar char="•"/>
            </a:pPr>
            <a:r>
              <a:rPr lang="en-US" sz="2400">
                <a:solidFill>
                  <a:srgbClr val="000000"/>
                </a:solidFill>
                <a:latin typeface="Canva Sans"/>
                <a:ea typeface="Canva Sans"/>
                <a:cs typeface="Canva Sans"/>
                <a:sym typeface="Canva Sans"/>
              </a:rPr>
              <a:t>Penyesuaian ukuran citra agar s</a:t>
            </a:r>
            <a:r>
              <a:rPr lang="en-US" sz="2400">
                <a:solidFill>
                  <a:srgbClr val="000000"/>
                </a:solidFill>
                <a:latin typeface="Canva Sans"/>
                <a:ea typeface="Canva Sans"/>
                <a:cs typeface="Canva Sans"/>
                <a:sym typeface="Canva Sans"/>
              </a:rPr>
              <a:t>eragam</a:t>
            </a:r>
          </a:p>
          <a:p>
            <a:pPr algn="just" marL="518160" indent="-259080" lvl="1">
              <a:lnSpc>
                <a:spcPts val="3359"/>
              </a:lnSpc>
              <a:buFont typeface="Arial"/>
              <a:buChar char="•"/>
            </a:pPr>
            <a:r>
              <a:rPr lang="en-US" sz="2400">
                <a:solidFill>
                  <a:srgbClr val="000000"/>
                </a:solidFill>
                <a:latin typeface="Canva Sans"/>
                <a:ea typeface="Canva Sans"/>
                <a:cs typeface="Canva Sans"/>
                <a:sym typeface="Canva Sans"/>
              </a:rPr>
              <a:t>Normalisasi nilai piksel untuk mempercepat proses pelatihan</a:t>
            </a:r>
          </a:p>
          <a:p>
            <a:pPr algn="just" marL="518160" indent="-259080" lvl="1">
              <a:lnSpc>
                <a:spcPts val="3359"/>
              </a:lnSpc>
              <a:buFont typeface="Arial"/>
              <a:buChar char="•"/>
            </a:pPr>
            <a:r>
              <a:rPr lang="en-US" sz="2400">
                <a:solidFill>
                  <a:srgbClr val="000000"/>
                </a:solidFill>
                <a:latin typeface="Canva Sans"/>
                <a:ea typeface="Canva Sans"/>
                <a:cs typeface="Canva Sans"/>
                <a:sym typeface="Canva Sans"/>
              </a:rPr>
              <a:t>Pembagian </a:t>
            </a:r>
            <a:r>
              <a:rPr lang="en-US" sz="2400">
                <a:solidFill>
                  <a:srgbClr val="000000"/>
                </a:solidFill>
                <a:latin typeface="Canva Sans"/>
                <a:ea typeface="Canva Sans"/>
                <a:cs typeface="Canva Sans"/>
                <a:sym typeface="Canva Sans"/>
              </a:rPr>
              <a:t>dataset menjadi data latih dan data validasi</a:t>
            </a:r>
          </a:p>
          <a:p>
            <a:pPr algn="just">
              <a:lnSpc>
                <a:spcPts val="3359"/>
              </a:lnSpc>
            </a:pPr>
            <a:r>
              <a:rPr lang="en-US" sz="2400">
                <a:solidFill>
                  <a:srgbClr val="000000"/>
                </a:solidFill>
                <a:latin typeface="Canva Sans"/>
                <a:ea typeface="Canva Sans"/>
                <a:cs typeface="Canva Sans"/>
                <a:sym typeface="Canva Sans"/>
              </a:rPr>
              <a:t>Tahapan in</a:t>
            </a:r>
            <a:r>
              <a:rPr lang="en-US" sz="2400">
                <a:solidFill>
                  <a:srgbClr val="000000"/>
                </a:solidFill>
                <a:latin typeface="Canva Sans"/>
                <a:ea typeface="Canva Sans"/>
                <a:cs typeface="Canva Sans"/>
                <a:sym typeface="Canva Sans"/>
              </a:rPr>
              <a:t>i bertujuan agar data lebih siap diproses oleh model CNN dan mengurangi kesalahan saat pelatihan.</a:t>
            </a:r>
          </a:p>
          <a:p>
            <a:pPr algn="just">
              <a:lnSpc>
                <a:spcPts val="3359"/>
              </a:lnSpc>
            </a:pPr>
          </a:p>
        </p:txBody>
      </p:sp>
      <p:sp>
        <p:nvSpPr>
          <p:cNvPr name="TextBox 12" id="12"/>
          <p:cNvSpPr txBox="true"/>
          <p:nvPr/>
        </p:nvSpPr>
        <p:spPr>
          <a:xfrm rot="0">
            <a:off x="7606345" y="9465118"/>
            <a:ext cx="9095954" cy="396240"/>
          </a:xfrm>
          <a:prstGeom prst="rect">
            <a:avLst/>
          </a:prstGeom>
        </p:spPr>
        <p:txBody>
          <a:bodyPr anchor="t" rtlCol="false" tIns="0" lIns="0" bIns="0" rIns="0">
            <a:spAutoFit/>
          </a:bodyPr>
          <a:lstStyle/>
          <a:p>
            <a:pPr algn="just">
              <a:lnSpc>
                <a:spcPts val="3359"/>
              </a:lnSpc>
            </a:pPr>
            <a:r>
              <a:rPr lang="en-US" sz="2400">
                <a:solidFill>
                  <a:srgbClr val="000000"/>
                </a:solidFill>
                <a:latin typeface="Canva Sans"/>
                <a:ea typeface="Canva Sans"/>
                <a:cs typeface="Canva Sans"/>
                <a:sym typeface="Canva Sans"/>
              </a:rPr>
              <a:t>(untuk outputnya nanti ditunjukan dan dijelaskan di program)</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6416679" cy="10287000"/>
            <a:chOff x="0" y="0"/>
            <a:chExt cx="1689989" cy="2709333"/>
          </a:xfrm>
        </p:grpSpPr>
        <p:sp>
          <p:nvSpPr>
            <p:cNvPr name="Freeform 3" id="3"/>
            <p:cNvSpPr/>
            <p:nvPr/>
          </p:nvSpPr>
          <p:spPr>
            <a:xfrm flipH="false" flipV="false" rot="0">
              <a:off x="0" y="0"/>
              <a:ext cx="1689989" cy="2709333"/>
            </a:xfrm>
            <a:custGeom>
              <a:avLst/>
              <a:gdLst/>
              <a:ahLst/>
              <a:cxnLst/>
              <a:rect r="r" b="b" t="t" l="l"/>
              <a:pathLst>
                <a:path h="2709333" w="1689989">
                  <a:moveTo>
                    <a:pt x="0" y="0"/>
                  </a:moveTo>
                  <a:lnTo>
                    <a:pt x="1689989" y="0"/>
                  </a:lnTo>
                  <a:lnTo>
                    <a:pt x="1689989" y="2709333"/>
                  </a:lnTo>
                  <a:lnTo>
                    <a:pt x="0" y="2709333"/>
                  </a:lnTo>
                  <a:close/>
                </a:path>
              </a:pathLst>
            </a:custGeom>
            <a:solidFill>
              <a:srgbClr val="0345E4"/>
            </a:solidFill>
          </p:spPr>
        </p:sp>
        <p:sp>
          <p:nvSpPr>
            <p:cNvPr name="TextBox 4" id="4"/>
            <p:cNvSpPr txBox="true"/>
            <p:nvPr/>
          </p:nvSpPr>
          <p:spPr>
            <a:xfrm>
              <a:off x="0" y="-38100"/>
              <a:ext cx="1689989" cy="2747433"/>
            </a:xfrm>
            <a:prstGeom prst="rect">
              <a:avLst/>
            </a:prstGeom>
          </p:spPr>
          <p:txBody>
            <a:bodyPr anchor="ctr" rtlCol="false" tIns="50800" lIns="50800" bIns="50800" rIns="50800"/>
            <a:lstStyle/>
            <a:p>
              <a:pPr algn="ctr">
                <a:lnSpc>
                  <a:spcPts val="2659"/>
                </a:lnSpc>
              </a:pPr>
            </a:p>
          </p:txBody>
        </p:sp>
      </p:grpSp>
      <p:sp>
        <p:nvSpPr>
          <p:cNvPr name="AutoShape 5" id="5"/>
          <p:cNvSpPr/>
          <p:nvPr/>
        </p:nvSpPr>
        <p:spPr>
          <a:xfrm>
            <a:off x="1028700" y="3165272"/>
            <a:ext cx="1310100" cy="0"/>
          </a:xfrm>
          <a:prstGeom prst="line">
            <a:avLst/>
          </a:prstGeom>
          <a:ln cap="flat" w="95250">
            <a:solidFill>
              <a:srgbClr val="FFFFFF"/>
            </a:solidFill>
            <a:prstDash val="solid"/>
            <a:headEnd type="none" len="sm" w="sm"/>
            <a:tailEnd type="none" len="sm" w="sm"/>
          </a:ln>
        </p:spPr>
      </p:sp>
      <p:sp>
        <p:nvSpPr>
          <p:cNvPr name="Freeform 6" id="6"/>
          <p:cNvSpPr/>
          <p:nvPr/>
        </p:nvSpPr>
        <p:spPr>
          <a:xfrm flipH="false" flipV="false" rot="0">
            <a:off x="13530708" y="469013"/>
            <a:ext cx="2112543" cy="559687"/>
          </a:xfrm>
          <a:custGeom>
            <a:avLst/>
            <a:gdLst/>
            <a:ahLst/>
            <a:cxnLst/>
            <a:rect r="r" b="b" t="t" l="l"/>
            <a:pathLst>
              <a:path h="559687" w="2112543">
                <a:moveTo>
                  <a:pt x="0" y="0"/>
                </a:moveTo>
                <a:lnTo>
                  <a:pt x="2112544" y="0"/>
                </a:lnTo>
                <a:lnTo>
                  <a:pt x="2112544" y="559687"/>
                </a:lnTo>
                <a:lnTo>
                  <a:pt x="0" y="559687"/>
                </a:lnTo>
                <a:lnTo>
                  <a:pt x="0" y="0"/>
                </a:lnTo>
                <a:close/>
              </a:path>
            </a:pathLst>
          </a:custGeom>
          <a:blipFill>
            <a:blip r:embed="rId2"/>
            <a:stretch>
              <a:fillRect l="0" t="0" r="0" b="0"/>
            </a:stretch>
          </a:blipFill>
        </p:spPr>
      </p:sp>
      <p:sp>
        <p:nvSpPr>
          <p:cNvPr name="Freeform 7" id="7"/>
          <p:cNvSpPr/>
          <p:nvPr/>
        </p:nvSpPr>
        <p:spPr>
          <a:xfrm flipH="false" flipV="false" rot="0">
            <a:off x="15786127" y="412178"/>
            <a:ext cx="686062" cy="673358"/>
          </a:xfrm>
          <a:custGeom>
            <a:avLst/>
            <a:gdLst/>
            <a:ahLst/>
            <a:cxnLst/>
            <a:rect r="r" b="b" t="t" l="l"/>
            <a:pathLst>
              <a:path h="673358" w="686062">
                <a:moveTo>
                  <a:pt x="0" y="0"/>
                </a:moveTo>
                <a:lnTo>
                  <a:pt x="686062" y="0"/>
                </a:lnTo>
                <a:lnTo>
                  <a:pt x="686062" y="673357"/>
                </a:lnTo>
                <a:lnTo>
                  <a:pt x="0" y="673357"/>
                </a:lnTo>
                <a:lnTo>
                  <a:pt x="0" y="0"/>
                </a:lnTo>
                <a:close/>
              </a:path>
            </a:pathLst>
          </a:custGeom>
          <a:blipFill>
            <a:blip r:embed="rId3"/>
            <a:stretch>
              <a:fillRect l="0" t="0" r="0" b="0"/>
            </a:stretch>
          </a:blipFill>
        </p:spPr>
      </p:sp>
      <p:sp>
        <p:nvSpPr>
          <p:cNvPr name="Freeform 8" id="8"/>
          <p:cNvSpPr/>
          <p:nvPr/>
        </p:nvSpPr>
        <p:spPr>
          <a:xfrm flipH="false" flipV="false" rot="0">
            <a:off x="16613787" y="426100"/>
            <a:ext cx="645513" cy="645513"/>
          </a:xfrm>
          <a:custGeom>
            <a:avLst/>
            <a:gdLst/>
            <a:ahLst/>
            <a:cxnLst/>
            <a:rect r="r" b="b" t="t" l="l"/>
            <a:pathLst>
              <a:path h="645513" w="645513">
                <a:moveTo>
                  <a:pt x="0" y="0"/>
                </a:moveTo>
                <a:lnTo>
                  <a:pt x="645513" y="0"/>
                </a:lnTo>
                <a:lnTo>
                  <a:pt x="645513" y="645513"/>
                </a:lnTo>
                <a:lnTo>
                  <a:pt x="0" y="645513"/>
                </a:lnTo>
                <a:lnTo>
                  <a:pt x="0" y="0"/>
                </a:lnTo>
                <a:close/>
              </a:path>
            </a:pathLst>
          </a:custGeom>
          <a:blipFill>
            <a:blip r:embed="rId4"/>
            <a:stretch>
              <a:fillRect l="0" t="0" r="0" b="0"/>
            </a:stretch>
          </a:blipFill>
        </p:spPr>
      </p:sp>
      <p:sp>
        <p:nvSpPr>
          <p:cNvPr name="Freeform 9" id="9"/>
          <p:cNvSpPr/>
          <p:nvPr/>
        </p:nvSpPr>
        <p:spPr>
          <a:xfrm flipH="false" flipV="false" rot="0">
            <a:off x="7049424" y="5298153"/>
            <a:ext cx="10328510" cy="1000751"/>
          </a:xfrm>
          <a:custGeom>
            <a:avLst/>
            <a:gdLst/>
            <a:ahLst/>
            <a:cxnLst/>
            <a:rect r="r" b="b" t="t" l="l"/>
            <a:pathLst>
              <a:path h="1000751" w="10328510">
                <a:moveTo>
                  <a:pt x="0" y="0"/>
                </a:moveTo>
                <a:lnTo>
                  <a:pt x="10328510" y="0"/>
                </a:lnTo>
                <a:lnTo>
                  <a:pt x="10328510" y="1000752"/>
                </a:lnTo>
                <a:lnTo>
                  <a:pt x="0" y="1000752"/>
                </a:lnTo>
                <a:lnTo>
                  <a:pt x="0" y="0"/>
                </a:lnTo>
                <a:close/>
              </a:path>
            </a:pathLst>
          </a:custGeom>
          <a:blipFill>
            <a:blip r:embed="rId5"/>
            <a:stretch>
              <a:fillRect l="0" t="0" r="0" b="0"/>
            </a:stretch>
          </a:blipFill>
        </p:spPr>
      </p:sp>
      <p:sp>
        <p:nvSpPr>
          <p:cNvPr name="TextBox 10" id="10"/>
          <p:cNvSpPr txBox="true"/>
          <p:nvPr/>
        </p:nvSpPr>
        <p:spPr>
          <a:xfrm rot="0">
            <a:off x="1028700" y="952500"/>
            <a:ext cx="5114979" cy="1562100"/>
          </a:xfrm>
          <a:prstGeom prst="rect">
            <a:avLst/>
          </a:prstGeom>
        </p:spPr>
        <p:txBody>
          <a:bodyPr anchor="t" rtlCol="false" tIns="0" lIns="0" bIns="0" rIns="0">
            <a:spAutoFit/>
          </a:bodyPr>
          <a:lstStyle/>
          <a:p>
            <a:pPr algn="l">
              <a:lnSpc>
                <a:spcPts val="6299"/>
              </a:lnSpc>
            </a:pPr>
            <a:r>
              <a:rPr lang="en-US" b="true" sz="4500" spc="89">
                <a:solidFill>
                  <a:srgbClr val="FFFFFF"/>
                </a:solidFill>
                <a:latin typeface="Garet Bold"/>
                <a:ea typeface="Garet Bold"/>
                <a:cs typeface="Garet Bold"/>
                <a:sym typeface="Garet Bold"/>
              </a:rPr>
              <a:t>PEMBAGIAN DATA</a:t>
            </a:r>
          </a:p>
        </p:txBody>
      </p:sp>
      <p:sp>
        <p:nvSpPr>
          <p:cNvPr name="TextBox 11" id="11"/>
          <p:cNvSpPr txBox="true"/>
          <p:nvPr/>
        </p:nvSpPr>
        <p:spPr>
          <a:xfrm rot="0">
            <a:off x="6930790" y="1495773"/>
            <a:ext cx="10565778" cy="815340"/>
          </a:xfrm>
          <a:prstGeom prst="rect">
            <a:avLst/>
          </a:prstGeom>
        </p:spPr>
        <p:txBody>
          <a:bodyPr anchor="t" rtlCol="false" tIns="0" lIns="0" bIns="0" rIns="0">
            <a:spAutoFit/>
          </a:bodyPr>
          <a:lstStyle/>
          <a:p>
            <a:pPr algn="just">
              <a:lnSpc>
                <a:spcPts val="3359"/>
              </a:lnSpc>
            </a:pPr>
            <a:r>
              <a:rPr lang="en-US" sz="2400">
                <a:solidFill>
                  <a:srgbClr val="000000"/>
                </a:solidFill>
                <a:latin typeface="Canva Sans"/>
                <a:ea typeface="Canva Sans"/>
                <a:cs typeface="Canva Sans"/>
                <a:sym typeface="Canva Sans"/>
              </a:rPr>
              <a:t>P</a:t>
            </a:r>
            <a:r>
              <a:rPr lang="en-US" sz="2400">
                <a:solidFill>
                  <a:srgbClr val="000000"/>
                </a:solidFill>
                <a:latin typeface="Canva Sans"/>
                <a:ea typeface="Canva Sans"/>
                <a:cs typeface="Canva Sans"/>
                <a:sym typeface="Canva Sans"/>
              </a:rPr>
              <a:t>embagian ini penting agar model tidak hanya belajar dari data yang sama, tetapi juga diuji pada data yang belum pernah dilihat sebelumnya.</a:t>
            </a:r>
          </a:p>
        </p:txBody>
      </p:sp>
      <p:sp>
        <p:nvSpPr>
          <p:cNvPr name="TextBox 12" id="12"/>
          <p:cNvSpPr txBox="true"/>
          <p:nvPr/>
        </p:nvSpPr>
        <p:spPr>
          <a:xfrm rot="0">
            <a:off x="6930790" y="2720688"/>
            <a:ext cx="10565778" cy="2072640"/>
          </a:xfrm>
          <a:prstGeom prst="rect">
            <a:avLst/>
          </a:prstGeom>
        </p:spPr>
        <p:txBody>
          <a:bodyPr anchor="t" rtlCol="false" tIns="0" lIns="0" bIns="0" rIns="0">
            <a:spAutoFit/>
          </a:bodyPr>
          <a:lstStyle/>
          <a:p>
            <a:pPr algn="just">
              <a:lnSpc>
                <a:spcPts val="3359"/>
              </a:lnSpc>
            </a:pPr>
            <a:r>
              <a:rPr lang="en-US" sz="2400">
                <a:solidFill>
                  <a:srgbClr val="000000"/>
                </a:solidFill>
                <a:latin typeface="Canva Sans"/>
                <a:ea typeface="Canva Sans"/>
                <a:cs typeface="Canva Sans"/>
                <a:sym typeface="Canva Sans"/>
              </a:rPr>
              <a:t>K</a:t>
            </a:r>
            <a:r>
              <a:rPr lang="en-US" sz="2400">
                <a:solidFill>
                  <a:srgbClr val="000000"/>
                </a:solidFill>
                <a:latin typeface="Canva Sans"/>
                <a:ea typeface="Canva Sans"/>
                <a:cs typeface="Canva Sans"/>
                <a:sym typeface="Canva Sans"/>
              </a:rPr>
              <a:t>ami menggunakan fungsi flow_from_directory() dari ImageDataGenerator untuk membagi data secara otomatis, dengan rasio 80% untuk training dan 20% untuk validasi. Selain itu, ukuran gambar disesuaikan menjadi 128x128 piksel agar konsisten dengan input model.</a:t>
            </a:r>
          </a:p>
        </p:txBody>
      </p:sp>
      <p:sp>
        <p:nvSpPr>
          <p:cNvPr name="TextBox 13" id="13"/>
          <p:cNvSpPr txBox="true"/>
          <p:nvPr/>
        </p:nvSpPr>
        <p:spPr>
          <a:xfrm rot="0">
            <a:off x="7840590" y="6708480"/>
            <a:ext cx="9095954" cy="396240"/>
          </a:xfrm>
          <a:prstGeom prst="rect">
            <a:avLst/>
          </a:prstGeom>
        </p:spPr>
        <p:txBody>
          <a:bodyPr anchor="t" rtlCol="false" tIns="0" lIns="0" bIns="0" rIns="0">
            <a:spAutoFit/>
          </a:bodyPr>
          <a:lstStyle/>
          <a:p>
            <a:pPr algn="just">
              <a:lnSpc>
                <a:spcPts val="3359"/>
              </a:lnSpc>
            </a:pPr>
            <a:r>
              <a:rPr lang="en-US" sz="2400">
                <a:solidFill>
                  <a:srgbClr val="000000"/>
                </a:solidFill>
                <a:latin typeface="Canva Sans"/>
                <a:ea typeface="Canva Sans"/>
                <a:cs typeface="Canva Sans"/>
                <a:sym typeface="Canva Sans"/>
              </a:rPr>
              <a:t>(untuk outputnya nanti ditunjukan dan dijelaskan di program)</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6416679" cy="10287000"/>
            <a:chOff x="0" y="0"/>
            <a:chExt cx="1689989" cy="2709333"/>
          </a:xfrm>
        </p:grpSpPr>
        <p:sp>
          <p:nvSpPr>
            <p:cNvPr name="Freeform 3" id="3"/>
            <p:cNvSpPr/>
            <p:nvPr/>
          </p:nvSpPr>
          <p:spPr>
            <a:xfrm flipH="false" flipV="false" rot="0">
              <a:off x="0" y="0"/>
              <a:ext cx="1689989" cy="2709333"/>
            </a:xfrm>
            <a:custGeom>
              <a:avLst/>
              <a:gdLst/>
              <a:ahLst/>
              <a:cxnLst/>
              <a:rect r="r" b="b" t="t" l="l"/>
              <a:pathLst>
                <a:path h="2709333" w="1689989">
                  <a:moveTo>
                    <a:pt x="0" y="0"/>
                  </a:moveTo>
                  <a:lnTo>
                    <a:pt x="1689989" y="0"/>
                  </a:lnTo>
                  <a:lnTo>
                    <a:pt x="1689989" y="2709333"/>
                  </a:lnTo>
                  <a:lnTo>
                    <a:pt x="0" y="2709333"/>
                  </a:lnTo>
                  <a:close/>
                </a:path>
              </a:pathLst>
            </a:custGeom>
            <a:solidFill>
              <a:srgbClr val="0345E4"/>
            </a:solidFill>
          </p:spPr>
        </p:sp>
        <p:sp>
          <p:nvSpPr>
            <p:cNvPr name="TextBox 4" id="4"/>
            <p:cNvSpPr txBox="true"/>
            <p:nvPr/>
          </p:nvSpPr>
          <p:spPr>
            <a:xfrm>
              <a:off x="0" y="-38100"/>
              <a:ext cx="1689989" cy="2747433"/>
            </a:xfrm>
            <a:prstGeom prst="rect">
              <a:avLst/>
            </a:prstGeom>
          </p:spPr>
          <p:txBody>
            <a:bodyPr anchor="ctr" rtlCol="false" tIns="50800" lIns="50800" bIns="50800" rIns="50800"/>
            <a:lstStyle/>
            <a:p>
              <a:pPr algn="ctr">
                <a:lnSpc>
                  <a:spcPts val="2659"/>
                </a:lnSpc>
              </a:pPr>
            </a:p>
          </p:txBody>
        </p:sp>
      </p:grpSp>
      <p:sp>
        <p:nvSpPr>
          <p:cNvPr name="AutoShape 5" id="5"/>
          <p:cNvSpPr/>
          <p:nvPr/>
        </p:nvSpPr>
        <p:spPr>
          <a:xfrm>
            <a:off x="1028700" y="3177412"/>
            <a:ext cx="1310100" cy="0"/>
          </a:xfrm>
          <a:prstGeom prst="line">
            <a:avLst/>
          </a:prstGeom>
          <a:ln cap="flat" w="95250">
            <a:solidFill>
              <a:srgbClr val="FFFFFF"/>
            </a:solidFill>
            <a:prstDash val="solid"/>
            <a:headEnd type="none" len="sm" w="sm"/>
            <a:tailEnd type="none" len="sm" w="sm"/>
          </a:ln>
        </p:spPr>
      </p:sp>
      <p:sp>
        <p:nvSpPr>
          <p:cNvPr name="Freeform 6" id="6"/>
          <p:cNvSpPr/>
          <p:nvPr/>
        </p:nvSpPr>
        <p:spPr>
          <a:xfrm flipH="false" flipV="false" rot="0">
            <a:off x="13530708" y="469013"/>
            <a:ext cx="2112543" cy="559687"/>
          </a:xfrm>
          <a:custGeom>
            <a:avLst/>
            <a:gdLst/>
            <a:ahLst/>
            <a:cxnLst/>
            <a:rect r="r" b="b" t="t" l="l"/>
            <a:pathLst>
              <a:path h="559687" w="2112543">
                <a:moveTo>
                  <a:pt x="0" y="0"/>
                </a:moveTo>
                <a:lnTo>
                  <a:pt x="2112544" y="0"/>
                </a:lnTo>
                <a:lnTo>
                  <a:pt x="2112544" y="559687"/>
                </a:lnTo>
                <a:lnTo>
                  <a:pt x="0" y="559687"/>
                </a:lnTo>
                <a:lnTo>
                  <a:pt x="0" y="0"/>
                </a:lnTo>
                <a:close/>
              </a:path>
            </a:pathLst>
          </a:custGeom>
          <a:blipFill>
            <a:blip r:embed="rId2"/>
            <a:stretch>
              <a:fillRect l="0" t="0" r="0" b="0"/>
            </a:stretch>
          </a:blipFill>
        </p:spPr>
      </p:sp>
      <p:sp>
        <p:nvSpPr>
          <p:cNvPr name="Freeform 7" id="7"/>
          <p:cNvSpPr/>
          <p:nvPr/>
        </p:nvSpPr>
        <p:spPr>
          <a:xfrm flipH="false" flipV="false" rot="0">
            <a:off x="15786127" y="412178"/>
            <a:ext cx="686062" cy="673358"/>
          </a:xfrm>
          <a:custGeom>
            <a:avLst/>
            <a:gdLst/>
            <a:ahLst/>
            <a:cxnLst/>
            <a:rect r="r" b="b" t="t" l="l"/>
            <a:pathLst>
              <a:path h="673358" w="686062">
                <a:moveTo>
                  <a:pt x="0" y="0"/>
                </a:moveTo>
                <a:lnTo>
                  <a:pt x="686062" y="0"/>
                </a:lnTo>
                <a:lnTo>
                  <a:pt x="686062" y="673357"/>
                </a:lnTo>
                <a:lnTo>
                  <a:pt x="0" y="673357"/>
                </a:lnTo>
                <a:lnTo>
                  <a:pt x="0" y="0"/>
                </a:lnTo>
                <a:close/>
              </a:path>
            </a:pathLst>
          </a:custGeom>
          <a:blipFill>
            <a:blip r:embed="rId3"/>
            <a:stretch>
              <a:fillRect l="0" t="0" r="0" b="0"/>
            </a:stretch>
          </a:blipFill>
        </p:spPr>
      </p:sp>
      <p:sp>
        <p:nvSpPr>
          <p:cNvPr name="Freeform 8" id="8"/>
          <p:cNvSpPr/>
          <p:nvPr/>
        </p:nvSpPr>
        <p:spPr>
          <a:xfrm flipH="false" flipV="false" rot="0">
            <a:off x="16613787" y="426100"/>
            <a:ext cx="645513" cy="645513"/>
          </a:xfrm>
          <a:custGeom>
            <a:avLst/>
            <a:gdLst/>
            <a:ahLst/>
            <a:cxnLst/>
            <a:rect r="r" b="b" t="t" l="l"/>
            <a:pathLst>
              <a:path h="645513" w="645513">
                <a:moveTo>
                  <a:pt x="0" y="0"/>
                </a:moveTo>
                <a:lnTo>
                  <a:pt x="645513" y="0"/>
                </a:lnTo>
                <a:lnTo>
                  <a:pt x="645513" y="645513"/>
                </a:lnTo>
                <a:lnTo>
                  <a:pt x="0" y="645513"/>
                </a:lnTo>
                <a:lnTo>
                  <a:pt x="0" y="0"/>
                </a:lnTo>
                <a:close/>
              </a:path>
            </a:pathLst>
          </a:custGeom>
          <a:blipFill>
            <a:blip r:embed="rId4"/>
            <a:stretch>
              <a:fillRect l="0" t="0" r="0" b="0"/>
            </a:stretch>
          </a:blipFill>
        </p:spPr>
      </p:sp>
      <p:sp>
        <p:nvSpPr>
          <p:cNvPr name="Freeform 9" id="9"/>
          <p:cNvSpPr/>
          <p:nvPr/>
        </p:nvSpPr>
        <p:spPr>
          <a:xfrm flipH="false" flipV="false" rot="0">
            <a:off x="8600488" y="5402944"/>
            <a:ext cx="7042763" cy="3855356"/>
          </a:xfrm>
          <a:custGeom>
            <a:avLst/>
            <a:gdLst/>
            <a:ahLst/>
            <a:cxnLst/>
            <a:rect r="r" b="b" t="t" l="l"/>
            <a:pathLst>
              <a:path h="3855356" w="7042763">
                <a:moveTo>
                  <a:pt x="0" y="0"/>
                </a:moveTo>
                <a:lnTo>
                  <a:pt x="7042764" y="0"/>
                </a:lnTo>
                <a:lnTo>
                  <a:pt x="7042764" y="3855356"/>
                </a:lnTo>
                <a:lnTo>
                  <a:pt x="0" y="3855356"/>
                </a:lnTo>
                <a:lnTo>
                  <a:pt x="0" y="0"/>
                </a:lnTo>
                <a:close/>
              </a:path>
            </a:pathLst>
          </a:custGeom>
          <a:blipFill>
            <a:blip r:embed="rId5"/>
            <a:stretch>
              <a:fillRect l="0" t="0" r="0" b="0"/>
            </a:stretch>
          </a:blipFill>
        </p:spPr>
      </p:sp>
      <p:sp>
        <p:nvSpPr>
          <p:cNvPr name="TextBox 10" id="10"/>
          <p:cNvSpPr txBox="true"/>
          <p:nvPr/>
        </p:nvSpPr>
        <p:spPr>
          <a:xfrm rot="0">
            <a:off x="1028700" y="889979"/>
            <a:ext cx="5114979" cy="1562100"/>
          </a:xfrm>
          <a:prstGeom prst="rect">
            <a:avLst/>
          </a:prstGeom>
        </p:spPr>
        <p:txBody>
          <a:bodyPr anchor="t" rtlCol="false" tIns="0" lIns="0" bIns="0" rIns="0">
            <a:spAutoFit/>
          </a:bodyPr>
          <a:lstStyle/>
          <a:p>
            <a:pPr algn="l">
              <a:lnSpc>
                <a:spcPts val="6299"/>
              </a:lnSpc>
            </a:pPr>
            <a:r>
              <a:rPr lang="en-US" b="true" sz="4500" spc="89">
                <a:solidFill>
                  <a:srgbClr val="FFFFFF"/>
                </a:solidFill>
                <a:latin typeface="Garet Bold"/>
                <a:ea typeface="Garet Bold"/>
                <a:cs typeface="Garet Bold"/>
                <a:sym typeface="Garet Bold"/>
              </a:rPr>
              <a:t>ARSITEKTUR MODEL CNN</a:t>
            </a:r>
          </a:p>
        </p:txBody>
      </p:sp>
      <p:sp>
        <p:nvSpPr>
          <p:cNvPr name="TextBox 11" id="11"/>
          <p:cNvSpPr txBox="true"/>
          <p:nvPr/>
        </p:nvSpPr>
        <p:spPr>
          <a:xfrm rot="0">
            <a:off x="6905236" y="1475526"/>
            <a:ext cx="10565778" cy="4587240"/>
          </a:xfrm>
          <a:prstGeom prst="rect">
            <a:avLst/>
          </a:prstGeom>
        </p:spPr>
        <p:txBody>
          <a:bodyPr anchor="t" rtlCol="false" tIns="0" lIns="0" bIns="0" rIns="0">
            <a:spAutoFit/>
          </a:bodyPr>
          <a:lstStyle/>
          <a:p>
            <a:pPr algn="just">
              <a:lnSpc>
                <a:spcPts val="3359"/>
              </a:lnSpc>
            </a:pPr>
            <a:r>
              <a:rPr lang="en-US" sz="2400">
                <a:solidFill>
                  <a:srgbClr val="000000"/>
                </a:solidFill>
                <a:latin typeface="Canva Sans"/>
                <a:ea typeface="Canva Sans"/>
                <a:cs typeface="Canva Sans"/>
                <a:sym typeface="Canva Sans"/>
              </a:rPr>
              <a:t>Model yang digunakan adalah </a:t>
            </a:r>
            <a:r>
              <a:rPr lang="en-US" sz="2400">
                <a:solidFill>
                  <a:srgbClr val="000000"/>
                </a:solidFill>
                <a:latin typeface="Canva Sans"/>
                <a:ea typeface="Canva Sans"/>
                <a:cs typeface="Canva Sans"/>
                <a:sym typeface="Canva Sans"/>
              </a:rPr>
              <a:t>Convolutional Neural Network (CNN) yang dirancang untuk m</a:t>
            </a:r>
            <a:r>
              <a:rPr lang="en-US" sz="2400">
                <a:solidFill>
                  <a:srgbClr val="000000"/>
                </a:solidFill>
                <a:latin typeface="Canva Sans"/>
                <a:ea typeface="Canva Sans"/>
                <a:cs typeface="Canva Sans"/>
                <a:sym typeface="Canva Sans"/>
              </a:rPr>
              <a:t>engenali pola visual dari citra langit. Arsitektur model terdiri dari beberapa lapisan utama yang disusun secara bertahap untuk mengekstraksi fitur dan melakukan klasifikasi ke dalam empat kelas cuaca.</a:t>
            </a:r>
          </a:p>
          <a:p>
            <a:pPr algn="just">
              <a:lnSpc>
                <a:spcPts val="3359"/>
              </a:lnSpc>
            </a:pPr>
            <a:r>
              <a:rPr lang="en-US" sz="2400">
                <a:solidFill>
                  <a:srgbClr val="000000"/>
                </a:solidFill>
                <a:latin typeface="Canva Sans"/>
                <a:ea typeface="Canva Sans"/>
                <a:cs typeface="Canva Sans"/>
                <a:sym typeface="Canva Sans"/>
              </a:rPr>
              <a:t>Model ini menggunakan tiga blok Conv2D dan MaxPooling2D untuk mengekstraksi fitur visual, diikuti oleh Flatten dan Dense layer untuk proses klasifikasi. Selain itu, ditambahkan Dropout untuk mencegah overfitting.</a:t>
            </a:r>
          </a:p>
          <a:p>
            <a:pPr algn="just">
              <a:lnSpc>
                <a:spcPts val="3359"/>
              </a:lnSpc>
            </a:pPr>
          </a:p>
          <a:p>
            <a:pPr algn="just">
              <a:lnSpc>
                <a:spcPts val="3359"/>
              </a:lnSpc>
            </a:pPr>
          </a:p>
        </p:txBody>
      </p:sp>
      <p:sp>
        <p:nvSpPr>
          <p:cNvPr name="TextBox 12" id="12"/>
          <p:cNvSpPr txBox="true"/>
          <p:nvPr/>
        </p:nvSpPr>
        <p:spPr>
          <a:xfrm rot="0">
            <a:off x="7640148" y="9416194"/>
            <a:ext cx="9095954" cy="396240"/>
          </a:xfrm>
          <a:prstGeom prst="rect">
            <a:avLst/>
          </a:prstGeom>
        </p:spPr>
        <p:txBody>
          <a:bodyPr anchor="t" rtlCol="false" tIns="0" lIns="0" bIns="0" rIns="0">
            <a:spAutoFit/>
          </a:bodyPr>
          <a:lstStyle/>
          <a:p>
            <a:pPr algn="just">
              <a:lnSpc>
                <a:spcPts val="3359"/>
              </a:lnSpc>
            </a:pPr>
            <a:r>
              <a:rPr lang="en-US" sz="2400">
                <a:solidFill>
                  <a:srgbClr val="000000"/>
                </a:solidFill>
                <a:latin typeface="Canva Sans"/>
                <a:ea typeface="Canva Sans"/>
                <a:cs typeface="Canva Sans"/>
                <a:sym typeface="Canva Sans"/>
              </a:rPr>
              <a:t>(untuk outputnya nanti ditunjukan dan dijelaskan di program)</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6416679" cy="10287000"/>
            <a:chOff x="0" y="0"/>
            <a:chExt cx="1689989" cy="2709333"/>
          </a:xfrm>
        </p:grpSpPr>
        <p:sp>
          <p:nvSpPr>
            <p:cNvPr name="Freeform 3" id="3"/>
            <p:cNvSpPr/>
            <p:nvPr/>
          </p:nvSpPr>
          <p:spPr>
            <a:xfrm flipH="false" flipV="false" rot="0">
              <a:off x="0" y="0"/>
              <a:ext cx="1689989" cy="2709333"/>
            </a:xfrm>
            <a:custGeom>
              <a:avLst/>
              <a:gdLst/>
              <a:ahLst/>
              <a:cxnLst/>
              <a:rect r="r" b="b" t="t" l="l"/>
              <a:pathLst>
                <a:path h="2709333" w="1689989">
                  <a:moveTo>
                    <a:pt x="0" y="0"/>
                  </a:moveTo>
                  <a:lnTo>
                    <a:pt x="1689989" y="0"/>
                  </a:lnTo>
                  <a:lnTo>
                    <a:pt x="1689989" y="2709333"/>
                  </a:lnTo>
                  <a:lnTo>
                    <a:pt x="0" y="2709333"/>
                  </a:lnTo>
                  <a:close/>
                </a:path>
              </a:pathLst>
            </a:custGeom>
            <a:solidFill>
              <a:srgbClr val="0345E4"/>
            </a:solidFill>
          </p:spPr>
        </p:sp>
        <p:sp>
          <p:nvSpPr>
            <p:cNvPr name="TextBox 4" id="4"/>
            <p:cNvSpPr txBox="true"/>
            <p:nvPr/>
          </p:nvSpPr>
          <p:spPr>
            <a:xfrm>
              <a:off x="0" y="-38100"/>
              <a:ext cx="1689989" cy="2747433"/>
            </a:xfrm>
            <a:prstGeom prst="rect">
              <a:avLst/>
            </a:prstGeom>
          </p:spPr>
          <p:txBody>
            <a:bodyPr anchor="ctr" rtlCol="false" tIns="50800" lIns="50800" bIns="50800" rIns="50800"/>
            <a:lstStyle/>
            <a:p>
              <a:pPr algn="ctr">
                <a:lnSpc>
                  <a:spcPts val="2659"/>
                </a:lnSpc>
              </a:pPr>
            </a:p>
          </p:txBody>
        </p:sp>
      </p:grpSp>
      <p:sp>
        <p:nvSpPr>
          <p:cNvPr name="AutoShape 5" id="5"/>
          <p:cNvSpPr/>
          <p:nvPr/>
        </p:nvSpPr>
        <p:spPr>
          <a:xfrm>
            <a:off x="1028700" y="3255529"/>
            <a:ext cx="1310100" cy="0"/>
          </a:xfrm>
          <a:prstGeom prst="line">
            <a:avLst/>
          </a:prstGeom>
          <a:ln cap="flat" w="95250">
            <a:solidFill>
              <a:srgbClr val="FFFFFF"/>
            </a:solidFill>
            <a:prstDash val="solid"/>
            <a:headEnd type="none" len="sm" w="sm"/>
            <a:tailEnd type="none" len="sm" w="sm"/>
          </a:ln>
        </p:spPr>
      </p:sp>
      <p:sp>
        <p:nvSpPr>
          <p:cNvPr name="Freeform 6" id="6"/>
          <p:cNvSpPr/>
          <p:nvPr/>
        </p:nvSpPr>
        <p:spPr>
          <a:xfrm flipH="false" flipV="false" rot="0">
            <a:off x="13530708" y="469013"/>
            <a:ext cx="2112543" cy="559687"/>
          </a:xfrm>
          <a:custGeom>
            <a:avLst/>
            <a:gdLst/>
            <a:ahLst/>
            <a:cxnLst/>
            <a:rect r="r" b="b" t="t" l="l"/>
            <a:pathLst>
              <a:path h="559687" w="2112543">
                <a:moveTo>
                  <a:pt x="0" y="0"/>
                </a:moveTo>
                <a:lnTo>
                  <a:pt x="2112544" y="0"/>
                </a:lnTo>
                <a:lnTo>
                  <a:pt x="2112544" y="559687"/>
                </a:lnTo>
                <a:lnTo>
                  <a:pt x="0" y="559687"/>
                </a:lnTo>
                <a:lnTo>
                  <a:pt x="0" y="0"/>
                </a:lnTo>
                <a:close/>
              </a:path>
            </a:pathLst>
          </a:custGeom>
          <a:blipFill>
            <a:blip r:embed="rId2"/>
            <a:stretch>
              <a:fillRect l="0" t="0" r="0" b="0"/>
            </a:stretch>
          </a:blipFill>
        </p:spPr>
      </p:sp>
      <p:sp>
        <p:nvSpPr>
          <p:cNvPr name="Freeform 7" id="7"/>
          <p:cNvSpPr/>
          <p:nvPr/>
        </p:nvSpPr>
        <p:spPr>
          <a:xfrm flipH="false" flipV="false" rot="0">
            <a:off x="15786127" y="412178"/>
            <a:ext cx="686062" cy="673358"/>
          </a:xfrm>
          <a:custGeom>
            <a:avLst/>
            <a:gdLst/>
            <a:ahLst/>
            <a:cxnLst/>
            <a:rect r="r" b="b" t="t" l="l"/>
            <a:pathLst>
              <a:path h="673358" w="686062">
                <a:moveTo>
                  <a:pt x="0" y="0"/>
                </a:moveTo>
                <a:lnTo>
                  <a:pt x="686062" y="0"/>
                </a:lnTo>
                <a:lnTo>
                  <a:pt x="686062" y="673357"/>
                </a:lnTo>
                <a:lnTo>
                  <a:pt x="0" y="673357"/>
                </a:lnTo>
                <a:lnTo>
                  <a:pt x="0" y="0"/>
                </a:lnTo>
                <a:close/>
              </a:path>
            </a:pathLst>
          </a:custGeom>
          <a:blipFill>
            <a:blip r:embed="rId3"/>
            <a:stretch>
              <a:fillRect l="0" t="0" r="0" b="0"/>
            </a:stretch>
          </a:blipFill>
        </p:spPr>
      </p:sp>
      <p:sp>
        <p:nvSpPr>
          <p:cNvPr name="Freeform 8" id="8"/>
          <p:cNvSpPr/>
          <p:nvPr/>
        </p:nvSpPr>
        <p:spPr>
          <a:xfrm flipH="false" flipV="false" rot="0">
            <a:off x="16613787" y="426100"/>
            <a:ext cx="645513" cy="645513"/>
          </a:xfrm>
          <a:custGeom>
            <a:avLst/>
            <a:gdLst/>
            <a:ahLst/>
            <a:cxnLst/>
            <a:rect r="r" b="b" t="t" l="l"/>
            <a:pathLst>
              <a:path h="645513" w="645513">
                <a:moveTo>
                  <a:pt x="0" y="0"/>
                </a:moveTo>
                <a:lnTo>
                  <a:pt x="645513" y="0"/>
                </a:lnTo>
                <a:lnTo>
                  <a:pt x="645513" y="645513"/>
                </a:lnTo>
                <a:lnTo>
                  <a:pt x="0" y="645513"/>
                </a:lnTo>
                <a:lnTo>
                  <a:pt x="0" y="0"/>
                </a:lnTo>
                <a:close/>
              </a:path>
            </a:pathLst>
          </a:custGeom>
          <a:blipFill>
            <a:blip r:embed="rId4"/>
            <a:stretch>
              <a:fillRect l="0" t="0" r="0" b="0"/>
            </a:stretch>
          </a:blipFill>
        </p:spPr>
      </p:sp>
      <p:sp>
        <p:nvSpPr>
          <p:cNvPr name="Freeform 9" id="9"/>
          <p:cNvSpPr/>
          <p:nvPr/>
        </p:nvSpPr>
        <p:spPr>
          <a:xfrm flipH="false" flipV="false" rot="0">
            <a:off x="7678504" y="5706187"/>
            <a:ext cx="9528026" cy="3482466"/>
          </a:xfrm>
          <a:custGeom>
            <a:avLst/>
            <a:gdLst/>
            <a:ahLst/>
            <a:cxnLst/>
            <a:rect r="r" b="b" t="t" l="l"/>
            <a:pathLst>
              <a:path h="3482466" w="9528026">
                <a:moveTo>
                  <a:pt x="0" y="0"/>
                </a:moveTo>
                <a:lnTo>
                  <a:pt x="9528026" y="0"/>
                </a:lnTo>
                <a:lnTo>
                  <a:pt x="9528026" y="3482465"/>
                </a:lnTo>
                <a:lnTo>
                  <a:pt x="0" y="3482465"/>
                </a:lnTo>
                <a:lnTo>
                  <a:pt x="0" y="0"/>
                </a:lnTo>
                <a:close/>
              </a:path>
            </a:pathLst>
          </a:custGeom>
          <a:blipFill>
            <a:blip r:embed="rId5"/>
            <a:stretch>
              <a:fillRect l="0" t="0" r="0" b="0"/>
            </a:stretch>
          </a:blipFill>
        </p:spPr>
      </p:sp>
      <p:sp>
        <p:nvSpPr>
          <p:cNvPr name="TextBox 10" id="10"/>
          <p:cNvSpPr txBox="true"/>
          <p:nvPr/>
        </p:nvSpPr>
        <p:spPr>
          <a:xfrm rot="0">
            <a:off x="1028700" y="952500"/>
            <a:ext cx="5114979" cy="1562100"/>
          </a:xfrm>
          <a:prstGeom prst="rect">
            <a:avLst/>
          </a:prstGeom>
        </p:spPr>
        <p:txBody>
          <a:bodyPr anchor="t" rtlCol="false" tIns="0" lIns="0" bIns="0" rIns="0">
            <a:spAutoFit/>
          </a:bodyPr>
          <a:lstStyle/>
          <a:p>
            <a:pPr algn="l">
              <a:lnSpc>
                <a:spcPts val="6299"/>
              </a:lnSpc>
            </a:pPr>
            <a:r>
              <a:rPr lang="en-US" b="true" sz="4500" spc="89">
                <a:solidFill>
                  <a:srgbClr val="FFFFFF"/>
                </a:solidFill>
                <a:latin typeface="Garet Bold"/>
                <a:ea typeface="Garet Bold"/>
                <a:cs typeface="Garet Bold"/>
                <a:sym typeface="Garet Bold"/>
              </a:rPr>
              <a:t>COMPILE </a:t>
            </a:r>
          </a:p>
          <a:p>
            <a:pPr algn="l">
              <a:lnSpc>
                <a:spcPts val="6299"/>
              </a:lnSpc>
            </a:pPr>
            <a:r>
              <a:rPr lang="en-US" b="true" sz="4500" spc="89">
                <a:solidFill>
                  <a:srgbClr val="FFFFFF"/>
                </a:solidFill>
                <a:latin typeface="Garet Bold"/>
                <a:ea typeface="Garet Bold"/>
                <a:cs typeface="Garet Bold"/>
                <a:sym typeface="Garet Bold"/>
              </a:rPr>
              <a:t>MODEL</a:t>
            </a:r>
          </a:p>
        </p:txBody>
      </p:sp>
      <p:sp>
        <p:nvSpPr>
          <p:cNvPr name="TextBox 11" id="11"/>
          <p:cNvSpPr txBox="true"/>
          <p:nvPr/>
        </p:nvSpPr>
        <p:spPr>
          <a:xfrm rot="0">
            <a:off x="7159628" y="1538047"/>
            <a:ext cx="10565778" cy="4168140"/>
          </a:xfrm>
          <a:prstGeom prst="rect">
            <a:avLst/>
          </a:prstGeom>
        </p:spPr>
        <p:txBody>
          <a:bodyPr anchor="t" rtlCol="false" tIns="0" lIns="0" bIns="0" rIns="0">
            <a:spAutoFit/>
          </a:bodyPr>
          <a:lstStyle/>
          <a:p>
            <a:pPr algn="just">
              <a:lnSpc>
                <a:spcPts val="3359"/>
              </a:lnSpc>
            </a:pPr>
            <a:r>
              <a:rPr lang="en-US" sz="2400">
                <a:solidFill>
                  <a:srgbClr val="000000"/>
                </a:solidFill>
                <a:latin typeface="Canva Sans"/>
                <a:ea typeface="Canva Sans"/>
                <a:cs typeface="Canva Sans"/>
                <a:sym typeface="Canva Sans"/>
              </a:rPr>
              <a:t>Sebelum model dilatih, langkah penting yang harus dilakukan ada</a:t>
            </a:r>
            <a:r>
              <a:rPr lang="en-US" sz="2400">
                <a:solidFill>
                  <a:srgbClr val="000000"/>
                </a:solidFill>
                <a:latin typeface="Canva Sans"/>
                <a:ea typeface="Canva Sans"/>
                <a:cs typeface="Canva Sans"/>
                <a:sym typeface="Canva Sans"/>
              </a:rPr>
              <a:t>lah</a:t>
            </a:r>
            <a:r>
              <a:rPr lang="en-US" sz="2400">
                <a:solidFill>
                  <a:srgbClr val="000000"/>
                </a:solidFill>
                <a:latin typeface="Canva Sans"/>
                <a:ea typeface="Canva Sans"/>
                <a:cs typeface="Canva Sans"/>
                <a:sym typeface="Canva Sans"/>
              </a:rPr>
              <a:t> meng-compile model. Proses ini menentukan bagaimana model akan belajar dari data, termasuk algoritma optimasi, fungsi loss, dan metrik evaluasi yang digunakan untuk menilai performa model selama pelatihan.</a:t>
            </a:r>
          </a:p>
          <a:p>
            <a:pPr algn="just">
              <a:lnSpc>
                <a:spcPts val="3359"/>
              </a:lnSpc>
            </a:pPr>
            <a:r>
              <a:rPr lang="en-US" sz="2400">
                <a:solidFill>
                  <a:srgbClr val="000000"/>
                </a:solidFill>
                <a:latin typeface="Canva Sans"/>
                <a:ea typeface="Canva Sans"/>
                <a:cs typeface="Canva Sans"/>
                <a:sym typeface="Canva Sans"/>
              </a:rPr>
              <a:t>Kami menggunakan optimizer Adam karena efisien dan adaptif, serta loss function categorical crossentropy karena masalah ini merupakan klasifikasi multi-kelas. Metrik yang digunakan adalah akurasi, untuk melihat seberapa tepat model dalam memprediksi kelas gambar.</a:t>
            </a:r>
          </a:p>
          <a:p>
            <a:pPr algn="just">
              <a:lnSpc>
                <a:spcPts val="3359"/>
              </a:lnSpc>
            </a:pPr>
          </a:p>
        </p:txBody>
      </p:sp>
      <p:sp>
        <p:nvSpPr>
          <p:cNvPr name="TextBox 12" id="12"/>
          <p:cNvSpPr txBox="true"/>
          <p:nvPr/>
        </p:nvSpPr>
        <p:spPr>
          <a:xfrm rot="0">
            <a:off x="7840590" y="9408745"/>
            <a:ext cx="9095954" cy="396240"/>
          </a:xfrm>
          <a:prstGeom prst="rect">
            <a:avLst/>
          </a:prstGeom>
        </p:spPr>
        <p:txBody>
          <a:bodyPr anchor="t" rtlCol="false" tIns="0" lIns="0" bIns="0" rIns="0">
            <a:spAutoFit/>
          </a:bodyPr>
          <a:lstStyle/>
          <a:p>
            <a:pPr algn="just">
              <a:lnSpc>
                <a:spcPts val="3359"/>
              </a:lnSpc>
            </a:pPr>
            <a:r>
              <a:rPr lang="en-US" sz="2400">
                <a:solidFill>
                  <a:srgbClr val="000000"/>
                </a:solidFill>
                <a:latin typeface="Canva Sans"/>
                <a:ea typeface="Canva Sans"/>
                <a:cs typeface="Canva Sans"/>
                <a:sym typeface="Canva Sans"/>
              </a:rPr>
              <a:t>(untuk outputnya nanti ditunjukan dan dijelaskan di program)</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6416679" cy="10287000"/>
            <a:chOff x="0" y="0"/>
            <a:chExt cx="1689989" cy="2709333"/>
          </a:xfrm>
        </p:grpSpPr>
        <p:sp>
          <p:nvSpPr>
            <p:cNvPr name="Freeform 3" id="3"/>
            <p:cNvSpPr/>
            <p:nvPr/>
          </p:nvSpPr>
          <p:spPr>
            <a:xfrm flipH="false" flipV="false" rot="0">
              <a:off x="0" y="0"/>
              <a:ext cx="1689989" cy="2709333"/>
            </a:xfrm>
            <a:custGeom>
              <a:avLst/>
              <a:gdLst/>
              <a:ahLst/>
              <a:cxnLst/>
              <a:rect r="r" b="b" t="t" l="l"/>
              <a:pathLst>
                <a:path h="2709333" w="1689989">
                  <a:moveTo>
                    <a:pt x="0" y="0"/>
                  </a:moveTo>
                  <a:lnTo>
                    <a:pt x="1689989" y="0"/>
                  </a:lnTo>
                  <a:lnTo>
                    <a:pt x="1689989" y="2709333"/>
                  </a:lnTo>
                  <a:lnTo>
                    <a:pt x="0" y="2709333"/>
                  </a:lnTo>
                  <a:close/>
                </a:path>
              </a:pathLst>
            </a:custGeom>
            <a:solidFill>
              <a:srgbClr val="0345E4"/>
            </a:solidFill>
          </p:spPr>
        </p:sp>
        <p:sp>
          <p:nvSpPr>
            <p:cNvPr name="TextBox 4" id="4"/>
            <p:cNvSpPr txBox="true"/>
            <p:nvPr/>
          </p:nvSpPr>
          <p:spPr>
            <a:xfrm>
              <a:off x="0" y="-38100"/>
              <a:ext cx="1689989" cy="2747433"/>
            </a:xfrm>
            <a:prstGeom prst="rect">
              <a:avLst/>
            </a:prstGeom>
          </p:spPr>
          <p:txBody>
            <a:bodyPr anchor="ctr" rtlCol="false" tIns="50800" lIns="50800" bIns="50800" rIns="50800"/>
            <a:lstStyle/>
            <a:p>
              <a:pPr algn="ctr">
                <a:lnSpc>
                  <a:spcPts val="2659"/>
                </a:lnSpc>
              </a:pPr>
            </a:p>
          </p:txBody>
        </p:sp>
      </p:grpSp>
      <p:sp>
        <p:nvSpPr>
          <p:cNvPr name="AutoShape 5" id="5"/>
          <p:cNvSpPr/>
          <p:nvPr/>
        </p:nvSpPr>
        <p:spPr>
          <a:xfrm>
            <a:off x="1028700" y="3252138"/>
            <a:ext cx="1310100" cy="0"/>
          </a:xfrm>
          <a:prstGeom prst="line">
            <a:avLst/>
          </a:prstGeom>
          <a:ln cap="flat" w="95250">
            <a:solidFill>
              <a:srgbClr val="FFFFFF"/>
            </a:solidFill>
            <a:prstDash val="solid"/>
            <a:headEnd type="none" len="sm" w="sm"/>
            <a:tailEnd type="none" len="sm" w="sm"/>
          </a:ln>
        </p:spPr>
      </p:sp>
      <p:sp>
        <p:nvSpPr>
          <p:cNvPr name="Freeform 6" id="6"/>
          <p:cNvSpPr/>
          <p:nvPr/>
        </p:nvSpPr>
        <p:spPr>
          <a:xfrm flipH="false" flipV="false" rot="0">
            <a:off x="13530708" y="469013"/>
            <a:ext cx="2112543" cy="559687"/>
          </a:xfrm>
          <a:custGeom>
            <a:avLst/>
            <a:gdLst/>
            <a:ahLst/>
            <a:cxnLst/>
            <a:rect r="r" b="b" t="t" l="l"/>
            <a:pathLst>
              <a:path h="559687" w="2112543">
                <a:moveTo>
                  <a:pt x="0" y="0"/>
                </a:moveTo>
                <a:lnTo>
                  <a:pt x="2112544" y="0"/>
                </a:lnTo>
                <a:lnTo>
                  <a:pt x="2112544" y="559687"/>
                </a:lnTo>
                <a:lnTo>
                  <a:pt x="0" y="559687"/>
                </a:lnTo>
                <a:lnTo>
                  <a:pt x="0" y="0"/>
                </a:lnTo>
                <a:close/>
              </a:path>
            </a:pathLst>
          </a:custGeom>
          <a:blipFill>
            <a:blip r:embed="rId2"/>
            <a:stretch>
              <a:fillRect l="0" t="0" r="0" b="0"/>
            </a:stretch>
          </a:blipFill>
        </p:spPr>
      </p:sp>
      <p:sp>
        <p:nvSpPr>
          <p:cNvPr name="Freeform 7" id="7"/>
          <p:cNvSpPr/>
          <p:nvPr/>
        </p:nvSpPr>
        <p:spPr>
          <a:xfrm flipH="false" flipV="false" rot="0">
            <a:off x="15786127" y="412178"/>
            <a:ext cx="686062" cy="673358"/>
          </a:xfrm>
          <a:custGeom>
            <a:avLst/>
            <a:gdLst/>
            <a:ahLst/>
            <a:cxnLst/>
            <a:rect r="r" b="b" t="t" l="l"/>
            <a:pathLst>
              <a:path h="673358" w="686062">
                <a:moveTo>
                  <a:pt x="0" y="0"/>
                </a:moveTo>
                <a:lnTo>
                  <a:pt x="686062" y="0"/>
                </a:lnTo>
                <a:lnTo>
                  <a:pt x="686062" y="673357"/>
                </a:lnTo>
                <a:lnTo>
                  <a:pt x="0" y="673357"/>
                </a:lnTo>
                <a:lnTo>
                  <a:pt x="0" y="0"/>
                </a:lnTo>
                <a:close/>
              </a:path>
            </a:pathLst>
          </a:custGeom>
          <a:blipFill>
            <a:blip r:embed="rId3"/>
            <a:stretch>
              <a:fillRect l="0" t="0" r="0" b="0"/>
            </a:stretch>
          </a:blipFill>
        </p:spPr>
      </p:sp>
      <p:sp>
        <p:nvSpPr>
          <p:cNvPr name="Freeform 8" id="8"/>
          <p:cNvSpPr/>
          <p:nvPr/>
        </p:nvSpPr>
        <p:spPr>
          <a:xfrm flipH="false" flipV="false" rot="0">
            <a:off x="16613787" y="426100"/>
            <a:ext cx="645513" cy="645513"/>
          </a:xfrm>
          <a:custGeom>
            <a:avLst/>
            <a:gdLst/>
            <a:ahLst/>
            <a:cxnLst/>
            <a:rect r="r" b="b" t="t" l="l"/>
            <a:pathLst>
              <a:path h="645513" w="645513">
                <a:moveTo>
                  <a:pt x="0" y="0"/>
                </a:moveTo>
                <a:lnTo>
                  <a:pt x="645513" y="0"/>
                </a:lnTo>
                <a:lnTo>
                  <a:pt x="645513" y="645513"/>
                </a:lnTo>
                <a:lnTo>
                  <a:pt x="0" y="645513"/>
                </a:lnTo>
                <a:lnTo>
                  <a:pt x="0" y="0"/>
                </a:lnTo>
                <a:close/>
              </a:path>
            </a:pathLst>
          </a:custGeom>
          <a:blipFill>
            <a:blip r:embed="rId4"/>
            <a:stretch>
              <a:fillRect l="0" t="0" r="0" b="0"/>
            </a:stretch>
          </a:blipFill>
        </p:spPr>
      </p:sp>
      <p:sp>
        <p:nvSpPr>
          <p:cNvPr name="Freeform 9" id="9"/>
          <p:cNvSpPr/>
          <p:nvPr/>
        </p:nvSpPr>
        <p:spPr>
          <a:xfrm flipH="false" flipV="false" rot="0">
            <a:off x="9044636" y="3915670"/>
            <a:ext cx="6741491" cy="5056118"/>
          </a:xfrm>
          <a:custGeom>
            <a:avLst/>
            <a:gdLst/>
            <a:ahLst/>
            <a:cxnLst/>
            <a:rect r="r" b="b" t="t" l="l"/>
            <a:pathLst>
              <a:path h="5056118" w="6741491">
                <a:moveTo>
                  <a:pt x="0" y="0"/>
                </a:moveTo>
                <a:lnTo>
                  <a:pt x="6741491" y="0"/>
                </a:lnTo>
                <a:lnTo>
                  <a:pt x="6741491" y="5056118"/>
                </a:lnTo>
                <a:lnTo>
                  <a:pt x="0" y="5056118"/>
                </a:lnTo>
                <a:lnTo>
                  <a:pt x="0" y="0"/>
                </a:lnTo>
                <a:close/>
              </a:path>
            </a:pathLst>
          </a:custGeom>
          <a:blipFill>
            <a:blip r:embed="rId5"/>
            <a:stretch>
              <a:fillRect l="0" t="0" r="0" b="0"/>
            </a:stretch>
          </a:blipFill>
        </p:spPr>
      </p:sp>
      <p:sp>
        <p:nvSpPr>
          <p:cNvPr name="TextBox 10" id="10"/>
          <p:cNvSpPr txBox="true"/>
          <p:nvPr/>
        </p:nvSpPr>
        <p:spPr>
          <a:xfrm rot="0">
            <a:off x="1028700" y="952500"/>
            <a:ext cx="5114979" cy="1562100"/>
          </a:xfrm>
          <a:prstGeom prst="rect">
            <a:avLst/>
          </a:prstGeom>
        </p:spPr>
        <p:txBody>
          <a:bodyPr anchor="t" rtlCol="false" tIns="0" lIns="0" bIns="0" rIns="0">
            <a:spAutoFit/>
          </a:bodyPr>
          <a:lstStyle/>
          <a:p>
            <a:pPr algn="l">
              <a:lnSpc>
                <a:spcPts val="6299"/>
              </a:lnSpc>
            </a:pPr>
            <a:r>
              <a:rPr lang="en-US" b="true" sz="4500" spc="89">
                <a:solidFill>
                  <a:srgbClr val="FFFFFF"/>
                </a:solidFill>
                <a:latin typeface="Garet Bold"/>
                <a:ea typeface="Garet Bold"/>
                <a:cs typeface="Garet Bold"/>
                <a:sym typeface="Garet Bold"/>
              </a:rPr>
              <a:t>TRAINING</a:t>
            </a:r>
          </a:p>
          <a:p>
            <a:pPr algn="l">
              <a:lnSpc>
                <a:spcPts val="6299"/>
              </a:lnSpc>
            </a:pPr>
            <a:r>
              <a:rPr lang="en-US" b="true" sz="4500" spc="89">
                <a:solidFill>
                  <a:srgbClr val="FFFFFF"/>
                </a:solidFill>
                <a:latin typeface="Garet Bold"/>
                <a:ea typeface="Garet Bold"/>
                <a:cs typeface="Garet Bold"/>
                <a:sym typeface="Garet Bold"/>
              </a:rPr>
              <a:t>MODEL</a:t>
            </a:r>
          </a:p>
        </p:txBody>
      </p:sp>
      <p:sp>
        <p:nvSpPr>
          <p:cNvPr name="TextBox 11" id="11"/>
          <p:cNvSpPr txBox="true"/>
          <p:nvPr/>
        </p:nvSpPr>
        <p:spPr>
          <a:xfrm rot="0">
            <a:off x="7159628" y="1538047"/>
            <a:ext cx="10565778" cy="2072640"/>
          </a:xfrm>
          <a:prstGeom prst="rect">
            <a:avLst/>
          </a:prstGeom>
        </p:spPr>
        <p:txBody>
          <a:bodyPr anchor="t" rtlCol="false" tIns="0" lIns="0" bIns="0" rIns="0">
            <a:spAutoFit/>
          </a:bodyPr>
          <a:lstStyle/>
          <a:p>
            <a:pPr algn="just">
              <a:lnSpc>
                <a:spcPts val="3359"/>
              </a:lnSpc>
            </a:pPr>
            <a:r>
              <a:rPr lang="en-US" sz="2400">
                <a:solidFill>
                  <a:srgbClr val="000000"/>
                </a:solidFill>
                <a:latin typeface="Canva Sans"/>
                <a:ea typeface="Canva Sans"/>
                <a:cs typeface="Canva Sans"/>
                <a:sym typeface="Canva Sans"/>
              </a:rPr>
              <a:t>Setelah model selesai dikompilasi, langkah selanjutnya ada</a:t>
            </a:r>
            <a:r>
              <a:rPr lang="en-US" sz="2400">
                <a:solidFill>
                  <a:srgbClr val="000000"/>
                </a:solidFill>
                <a:latin typeface="Canva Sans"/>
                <a:ea typeface="Canva Sans"/>
                <a:cs typeface="Canva Sans"/>
                <a:sym typeface="Canva Sans"/>
              </a:rPr>
              <a:t>lah</a:t>
            </a:r>
            <a:r>
              <a:rPr lang="en-US" sz="2400">
                <a:solidFill>
                  <a:srgbClr val="000000"/>
                </a:solidFill>
                <a:latin typeface="Canva Sans"/>
                <a:ea typeface="Canva Sans"/>
                <a:cs typeface="Canva Sans"/>
                <a:sym typeface="Canva Sans"/>
              </a:rPr>
              <a:t> melatih model menggunakan data training dan memvalidasinya dengan data validasi. Proses ini dilakukan selama 25 epoch, di mana model akan belajar mengenali pola dari gambar dan memperbaiki bobotnya berdasarkan kesalahan prediksi.</a:t>
            </a:r>
          </a:p>
        </p:txBody>
      </p:sp>
      <p:sp>
        <p:nvSpPr>
          <p:cNvPr name="TextBox 12" id="12"/>
          <p:cNvSpPr txBox="true"/>
          <p:nvPr/>
        </p:nvSpPr>
        <p:spPr>
          <a:xfrm rot="0">
            <a:off x="7894540" y="9220200"/>
            <a:ext cx="9095954" cy="396240"/>
          </a:xfrm>
          <a:prstGeom prst="rect">
            <a:avLst/>
          </a:prstGeom>
        </p:spPr>
        <p:txBody>
          <a:bodyPr anchor="t" rtlCol="false" tIns="0" lIns="0" bIns="0" rIns="0">
            <a:spAutoFit/>
          </a:bodyPr>
          <a:lstStyle/>
          <a:p>
            <a:pPr algn="just">
              <a:lnSpc>
                <a:spcPts val="3359"/>
              </a:lnSpc>
            </a:pPr>
            <a:r>
              <a:rPr lang="en-US" sz="2400">
                <a:solidFill>
                  <a:srgbClr val="000000"/>
                </a:solidFill>
                <a:latin typeface="Canva Sans"/>
                <a:ea typeface="Canva Sans"/>
                <a:cs typeface="Canva Sans"/>
                <a:sym typeface="Canva Sans"/>
              </a:rPr>
              <a:t>(untuk outputnya nanti ditunjukan dan dijelaskan di program)</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6416679" cy="10287000"/>
            <a:chOff x="0" y="0"/>
            <a:chExt cx="1689989" cy="2709333"/>
          </a:xfrm>
        </p:grpSpPr>
        <p:sp>
          <p:nvSpPr>
            <p:cNvPr name="Freeform 3" id="3"/>
            <p:cNvSpPr/>
            <p:nvPr/>
          </p:nvSpPr>
          <p:spPr>
            <a:xfrm flipH="false" flipV="false" rot="0">
              <a:off x="0" y="0"/>
              <a:ext cx="1689989" cy="2709333"/>
            </a:xfrm>
            <a:custGeom>
              <a:avLst/>
              <a:gdLst/>
              <a:ahLst/>
              <a:cxnLst/>
              <a:rect r="r" b="b" t="t" l="l"/>
              <a:pathLst>
                <a:path h="2709333" w="1689989">
                  <a:moveTo>
                    <a:pt x="0" y="0"/>
                  </a:moveTo>
                  <a:lnTo>
                    <a:pt x="1689989" y="0"/>
                  </a:lnTo>
                  <a:lnTo>
                    <a:pt x="1689989" y="2709333"/>
                  </a:lnTo>
                  <a:lnTo>
                    <a:pt x="0" y="2709333"/>
                  </a:lnTo>
                  <a:close/>
                </a:path>
              </a:pathLst>
            </a:custGeom>
            <a:solidFill>
              <a:srgbClr val="0345E4"/>
            </a:solidFill>
          </p:spPr>
        </p:sp>
        <p:sp>
          <p:nvSpPr>
            <p:cNvPr name="TextBox 4" id="4"/>
            <p:cNvSpPr txBox="true"/>
            <p:nvPr/>
          </p:nvSpPr>
          <p:spPr>
            <a:xfrm>
              <a:off x="0" y="-38100"/>
              <a:ext cx="1689989" cy="2747433"/>
            </a:xfrm>
            <a:prstGeom prst="rect">
              <a:avLst/>
            </a:prstGeom>
          </p:spPr>
          <p:txBody>
            <a:bodyPr anchor="ctr" rtlCol="false" tIns="50800" lIns="50800" bIns="50800" rIns="50800"/>
            <a:lstStyle/>
            <a:p>
              <a:pPr algn="ctr">
                <a:lnSpc>
                  <a:spcPts val="2659"/>
                </a:lnSpc>
              </a:pPr>
            </a:p>
          </p:txBody>
        </p:sp>
      </p:grpSp>
      <p:sp>
        <p:nvSpPr>
          <p:cNvPr name="AutoShape 5" id="5"/>
          <p:cNvSpPr/>
          <p:nvPr/>
        </p:nvSpPr>
        <p:spPr>
          <a:xfrm>
            <a:off x="1028700" y="3267075"/>
            <a:ext cx="1310100" cy="0"/>
          </a:xfrm>
          <a:prstGeom prst="line">
            <a:avLst/>
          </a:prstGeom>
          <a:ln cap="flat" w="95250">
            <a:solidFill>
              <a:srgbClr val="FFFFFF"/>
            </a:solidFill>
            <a:prstDash val="solid"/>
            <a:headEnd type="none" len="sm" w="sm"/>
            <a:tailEnd type="none" len="sm" w="sm"/>
          </a:ln>
        </p:spPr>
      </p:sp>
      <p:sp>
        <p:nvSpPr>
          <p:cNvPr name="Freeform 6" id="6"/>
          <p:cNvSpPr/>
          <p:nvPr/>
        </p:nvSpPr>
        <p:spPr>
          <a:xfrm flipH="false" flipV="false" rot="0">
            <a:off x="13530708" y="469013"/>
            <a:ext cx="2112543" cy="559687"/>
          </a:xfrm>
          <a:custGeom>
            <a:avLst/>
            <a:gdLst/>
            <a:ahLst/>
            <a:cxnLst/>
            <a:rect r="r" b="b" t="t" l="l"/>
            <a:pathLst>
              <a:path h="559687" w="2112543">
                <a:moveTo>
                  <a:pt x="0" y="0"/>
                </a:moveTo>
                <a:lnTo>
                  <a:pt x="2112544" y="0"/>
                </a:lnTo>
                <a:lnTo>
                  <a:pt x="2112544" y="559687"/>
                </a:lnTo>
                <a:lnTo>
                  <a:pt x="0" y="559687"/>
                </a:lnTo>
                <a:lnTo>
                  <a:pt x="0" y="0"/>
                </a:lnTo>
                <a:close/>
              </a:path>
            </a:pathLst>
          </a:custGeom>
          <a:blipFill>
            <a:blip r:embed="rId2"/>
            <a:stretch>
              <a:fillRect l="0" t="0" r="0" b="0"/>
            </a:stretch>
          </a:blipFill>
        </p:spPr>
      </p:sp>
      <p:sp>
        <p:nvSpPr>
          <p:cNvPr name="Freeform 7" id="7"/>
          <p:cNvSpPr/>
          <p:nvPr/>
        </p:nvSpPr>
        <p:spPr>
          <a:xfrm flipH="false" flipV="false" rot="0">
            <a:off x="15786127" y="412178"/>
            <a:ext cx="686062" cy="673358"/>
          </a:xfrm>
          <a:custGeom>
            <a:avLst/>
            <a:gdLst/>
            <a:ahLst/>
            <a:cxnLst/>
            <a:rect r="r" b="b" t="t" l="l"/>
            <a:pathLst>
              <a:path h="673358" w="686062">
                <a:moveTo>
                  <a:pt x="0" y="0"/>
                </a:moveTo>
                <a:lnTo>
                  <a:pt x="686062" y="0"/>
                </a:lnTo>
                <a:lnTo>
                  <a:pt x="686062" y="673357"/>
                </a:lnTo>
                <a:lnTo>
                  <a:pt x="0" y="673357"/>
                </a:lnTo>
                <a:lnTo>
                  <a:pt x="0" y="0"/>
                </a:lnTo>
                <a:close/>
              </a:path>
            </a:pathLst>
          </a:custGeom>
          <a:blipFill>
            <a:blip r:embed="rId3"/>
            <a:stretch>
              <a:fillRect l="0" t="0" r="0" b="0"/>
            </a:stretch>
          </a:blipFill>
        </p:spPr>
      </p:sp>
      <p:sp>
        <p:nvSpPr>
          <p:cNvPr name="Freeform 8" id="8"/>
          <p:cNvSpPr/>
          <p:nvPr/>
        </p:nvSpPr>
        <p:spPr>
          <a:xfrm flipH="false" flipV="false" rot="0">
            <a:off x="16613787" y="426100"/>
            <a:ext cx="645513" cy="645513"/>
          </a:xfrm>
          <a:custGeom>
            <a:avLst/>
            <a:gdLst/>
            <a:ahLst/>
            <a:cxnLst/>
            <a:rect r="r" b="b" t="t" l="l"/>
            <a:pathLst>
              <a:path h="645513" w="645513">
                <a:moveTo>
                  <a:pt x="0" y="0"/>
                </a:moveTo>
                <a:lnTo>
                  <a:pt x="645513" y="0"/>
                </a:lnTo>
                <a:lnTo>
                  <a:pt x="645513" y="645513"/>
                </a:lnTo>
                <a:lnTo>
                  <a:pt x="0" y="645513"/>
                </a:lnTo>
                <a:lnTo>
                  <a:pt x="0" y="0"/>
                </a:lnTo>
                <a:close/>
              </a:path>
            </a:pathLst>
          </a:custGeom>
          <a:blipFill>
            <a:blip r:embed="rId4"/>
            <a:stretch>
              <a:fillRect l="0" t="0" r="0" b="0"/>
            </a:stretch>
          </a:blipFill>
        </p:spPr>
      </p:sp>
      <p:sp>
        <p:nvSpPr>
          <p:cNvPr name="Freeform 9" id="9"/>
          <p:cNvSpPr/>
          <p:nvPr/>
        </p:nvSpPr>
        <p:spPr>
          <a:xfrm flipH="false" flipV="false" rot="0">
            <a:off x="7933815" y="3345672"/>
            <a:ext cx="9017404" cy="5404420"/>
          </a:xfrm>
          <a:custGeom>
            <a:avLst/>
            <a:gdLst/>
            <a:ahLst/>
            <a:cxnLst/>
            <a:rect r="r" b="b" t="t" l="l"/>
            <a:pathLst>
              <a:path h="5404420" w="9017404">
                <a:moveTo>
                  <a:pt x="0" y="0"/>
                </a:moveTo>
                <a:lnTo>
                  <a:pt x="9017404" y="0"/>
                </a:lnTo>
                <a:lnTo>
                  <a:pt x="9017404" y="5404421"/>
                </a:lnTo>
                <a:lnTo>
                  <a:pt x="0" y="5404421"/>
                </a:lnTo>
                <a:lnTo>
                  <a:pt x="0" y="0"/>
                </a:lnTo>
                <a:close/>
              </a:path>
            </a:pathLst>
          </a:custGeom>
          <a:blipFill>
            <a:blip r:embed="rId5"/>
            <a:stretch>
              <a:fillRect l="0" t="0" r="0" b="0"/>
            </a:stretch>
          </a:blipFill>
        </p:spPr>
      </p:sp>
      <p:sp>
        <p:nvSpPr>
          <p:cNvPr name="TextBox 10" id="10"/>
          <p:cNvSpPr txBox="true"/>
          <p:nvPr/>
        </p:nvSpPr>
        <p:spPr>
          <a:xfrm rot="0">
            <a:off x="1028700" y="952500"/>
            <a:ext cx="5114979" cy="2362200"/>
          </a:xfrm>
          <a:prstGeom prst="rect">
            <a:avLst/>
          </a:prstGeom>
        </p:spPr>
        <p:txBody>
          <a:bodyPr anchor="t" rtlCol="false" tIns="0" lIns="0" bIns="0" rIns="0">
            <a:spAutoFit/>
          </a:bodyPr>
          <a:lstStyle/>
          <a:p>
            <a:pPr algn="l">
              <a:lnSpc>
                <a:spcPts val="6299"/>
              </a:lnSpc>
            </a:pPr>
            <a:r>
              <a:rPr lang="en-US" b="true" sz="4500" spc="89">
                <a:solidFill>
                  <a:srgbClr val="FFFFFF"/>
                </a:solidFill>
                <a:latin typeface="Garet Bold"/>
                <a:ea typeface="Garet Bold"/>
                <a:cs typeface="Garet Bold"/>
                <a:sym typeface="Garet Bold"/>
              </a:rPr>
              <a:t>VISUALISASI HASIL TRAINING</a:t>
            </a:r>
          </a:p>
          <a:p>
            <a:pPr algn="l">
              <a:lnSpc>
                <a:spcPts val="6299"/>
              </a:lnSpc>
            </a:pPr>
          </a:p>
        </p:txBody>
      </p:sp>
      <p:sp>
        <p:nvSpPr>
          <p:cNvPr name="TextBox 11" id="11"/>
          <p:cNvSpPr txBox="true"/>
          <p:nvPr/>
        </p:nvSpPr>
        <p:spPr>
          <a:xfrm rot="0">
            <a:off x="7159628" y="1448394"/>
            <a:ext cx="10565778" cy="2491740"/>
          </a:xfrm>
          <a:prstGeom prst="rect">
            <a:avLst/>
          </a:prstGeom>
        </p:spPr>
        <p:txBody>
          <a:bodyPr anchor="t" rtlCol="false" tIns="0" lIns="0" bIns="0" rIns="0">
            <a:spAutoFit/>
          </a:bodyPr>
          <a:lstStyle/>
          <a:p>
            <a:pPr algn="just">
              <a:lnSpc>
                <a:spcPts val="3359"/>
              </a:lnSpc>
            </a:pPr>
            <a:r>
              <a:rPr lang="en-US" sz="2400">
                <a:solidFill>
                  <a:srgbClr val="000000"/>
                </a:solidFill>
                <a:latin typeface="Canva Sans"/>
                <a:ea typeface="Canva Sans"/>
                <a:cs typeface="Canva Sans"/>
                <a:sym typeface="Canva Sans"/>
              </a:rPr>
              <a:t>Setelah proses pelatihan selesai, performa model d</a:t>
            </a:r>
            <a:r>
              <a:rPr lang="en-US" sz="2400">
                <a:solidFill>
                  <a:srgbClr val="000000"/>
                </a:solidFill>
                <a:latin typeface="Canva Sans"/>
                <a:ea typeface="Canva Sans"/>
                <a:cs typeface="Canva Sans"/>
                <a:sym typeface="Canva Sans"/>
              </a:rPr>
              <a:t>ivisualisasikan dalam bentuk grafik akurasi dan loss untuk data training dan validasi. Grafik ini membantu mengevaluasi apakah model belajar dengan baik dan apakah terjadi overfitting.</a:t>
            </a:r>
          </a:p>
          <a:p>
            <a:pPr algn="just">
              <a:lnSpc>
                <a:spcPts val="3359"/>
              </a:lnSpc>
            </a:pPr>
          </a:p>
          <a:p>
            <a:pPr algn="just">
              <a:lnSpc>
                <a:spcPts val="3359"/>
              </a:lnSpc>
            </a:pPr>
          </a:p>
        </p:txBody>
      </p:sp>
      <p:sp>
        <p:nvSpPr>
          <p:cNvPr name="TextBox 12" id="12"/>
          <p:cNvSpPr txBox="true"/>
          <p:nvPr/>
        </p:nvSpPr>
        <p:spPr>
          <a:xfrm rot="0">
            <a:off x="7919140" y="8862060"/>
            <a:ext cx="9017404" cy="396240"/>
          </a:xfrm>
          <a:prstGeom prst="rect">
            <a:avLst/>
          </a:prstGeom>
        </p:spPr>
        <p:txBody>
          <a:bodyPr anchor="t" rtlCol="false" tIns="0" lIns="0" bIns="0" rIns="0">
            <a:spAutoFit/>
          </a:bodyPr>
          <a:lstStyle/>
          <a:p>
            <a:pPr algn="just">
              <a:lnSpc>
                <a:spcPts val="3359"/>
              </a:lnSpc>
            </a:pPr>
            <a:r>
              <a:rPr lang="en-US" sz="2400">
                <a:solidFill>
                  <a:srgbClr val="000000"/>
                </a:solidFill>
                <a:latin typeface="Canva Sans"/>
                <a:ea typeface="Canva Sans"/>
                <a:cs typeface="Canva Sans"/>
                <a:sym typeface="Canva Sans"/>
              </a:rPr>
              <a:t>(untuk outputnya nanti ditunjukan dan dijelaskan di program)</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6416679" cy="10287000"/>
            <a:chOff x="0" y="0"/>
            <a:chExt cx="1689989" cy="2709333"/>
          </a:xfrm>
        </p:grpSpPr>
        <p:sp>
          <p:nvSpPr>
            <p:cNvPr name="Freeform 3" id="3"/>
            <p:cNvSpPr/>
            <p:nvPr/>
          </p:nvSpPr>
          <p:spPr>
            <a:xfrm flipH="false" flipV="false" rot="0">
              <a:off x="0" y="0"/>
              <a:ext cx="1689989" cy="2709333"/>
            </a:xfrm>
            <a:custGeom>
              <a:avLst/>
              <a:gdLst/>
              <a:ahLst/>
              <a:cxnLst/>
              <a:rect r="r" b="b" t="t" l="l"/>
              <a:pathLst>
                <a:path h="2709333" w="1689989">
                  <a:moveTo>
                    <a:pt x="0" y="0"/>
                  </a:moveTo>
                  <a:lnTo>
                    <a:pt x="1689989" y="0"/>
                  </a:lnTo>
                  <a:lnTo>
                    <a:pt x="1689989" y="2709333"/>
                  </a:lnTo>
                  <a:lnTo>
                    <a:pt x="0" y="2709333"/>
                  </a:lnTo>
                  <a:close/>
                </a:path>
              </a:pathLst>
            </a:custGeom>
            <a:solidFill>
              <a:srgbClr val="0345E4"/>
            </a:solidFill>
          </p:spPr>
        </p:sp>
        <p:sp>
          <p:nvSpPr>
            <p:cNvPr name="TextBox 4" id="4"/>
            <p:cNvSpPr txBox="true"/>
            <p:nvPr/>
          </p:nvSpPr>
          <p:spPr>
            <a:xfrm>
              <a:off x="0" y="-38100"/>
              <a:ext cx="1689989" cy="2747433"/>
            </a:xfrm>
            <a:prstGeom prst="rect">
              <a:avLst/>
            </a:prstGeom>
          </p:spPr>
          <p:txBody>
            <a:bodyPr anchor="ctr" rtlCol="false" tIns="50800" lIns="50800" bIns="50800" rIns="50800"/>
            <a:lstStyle/>
            <a:p>
              <a:pPr algn="ctr">
                <a:lnSpc>
                  <a:spcPts val="2659"/>
                </a:lnSpc>
              </a:pPr>
            </a:p>
          </p:txBody>
        </p:sp>
      </p:grpSp>
      <p:sp>
        <p:nvSpPr>
          <p:cNvPr name="AutoShape 5" id="5"/>
          <p:cNvSpPr/>
          <p:nvPr/>
        </p:nvSpPr>
        <p:spPr>
          <a:xfrm>
            <a:off x="1028700" y="3263045"/>
            <a:ext cx="1310100" cy="0"/>
          </a:xfrm>
          <a:prstGeom prst="line">
            <a:avLst/>
          </a:prstGeom>
          <a:ln cap="flat" w="95250">
            <a:solidFill>
              <a:srgbClr val="FFFFFF"/>
            </a:solidFill>
            <a:prstDash val="solid"/>
            <a:headEnd type="none" len="sm" w="sm"/>
            <a:tailEnd type="none" len="sm" w="sm"/>
          </a:ln>
        </p:spPr>
      </p:sp>
      <p:sp>
        <p:nvSpPr>
          <p:cNvPr name="Freeform 6" id="6"/>
          <p:cNvSpPr/>
          <p:nvPr/>
        </p:nvSpPr>
        <p:spPr>
          <a:xfrm flipH="false" flipV="false" rot="0">
            <a:off x="13530708" y="469013"/>
            <a:ext cx="2112543" cy="559687"/>
          </a:xfrm>
          <a:custGeom>
            <a:avLst/>
            <a:gdLst/>
            <a:ahLst/>
            <a:cxnLst/>
            <a:rect r="r" b="b" t="t" l="l"/>
            <a:pathLst>
              <a:path h="559687" w="2112543">
                <a:moveTo>
                  <a:pt x="0" y="0"/>
                </a:moveTo>
                <a:lnTo>
                  <a:pt x="2112544" y="0"/>
                </a:lnTo>
                <a:lnTo>
                  <a:pt x="2112544" y="559687"/>
                </a:lnTo>
                <a:lnTo>
                  <a:pt x="0" y="559687"/>
                </a:lnTo>
                <a:lnTo>
                  <a:pt x="0" y="0"/>
                </a:lnTo>
                <a:close/>
              </a:path>
            </a:pathLst>
          </a:custGeom>
          <a:blipFill>
            <a:blip r:embed="rId2"/>
            <a:stretch>
              <a:fillRect l="0" t="0" r="0" b="0"/>
            </a:stretch>
          </a:blipFill>
        </p:spPr>
      </p:sp>
      <p:sp>
        <p:nvSpPr>
          <p:cNvPr name="Freeform 7" id="7"/>
          <p:cNvSpPr/>
          <p:nvPr/>
        </p:nvSpPr>
        <p:spPr>
          <a:xfrm flipH="false" flipV="false" rot="0">
            <a:off x="15786127" y="412178"/>
            <a:ext cx="686062" cy="673358"/>
          </a:xfrm>
          <a:custGeom>
            <a:avLst/>
            <a:gdLst/>
            <a:ahLst/>
            <a:cxnLst/>
            <a:rect r="r" b="b" t="t" l="l"/>
            <a:pathLst>
              <a:path h="673358" w="686062">
                <a:moveTo>
                  <a:pt x="0" y="0"/>
                </a:moveTo>
                <a:lnTo>
                  <a:pt x="686062" y="0"/>
                </a:lnTo>
                <a:lnTo>
                  <a:pt x="686062" y="673357"/>
                </a:lnTo>
                <a:lnTo>
                  <a:pt x="0" y="673357"/>
                </a:lnTo>
                <a:lnTo>
                  <a:pt x="0" y="0"/>
                </a:lnTo>
                <a:close/>
              </a:path>
            </a:pathLst>
          </a:custGeom>
          <a:blipFill>
            <a:blip r:embed="rId3"/>
            <a:stretch>
              <a:fillRect l="0" t="0" r="0" b="0"/>
            </a:stretch>
          </a:blipFill>
        </p:spPr>
      </p:sp>
      <p:sp>
        <p:nvSpPr>
          <p:cNvPr name="Freeform 8" id="8"/>
          <p:cNvSpPr/>
          <p:nvPr/>
        </p:nvSpPr>
        <p:spPr>
          <a:xfrm flipH="false" flipV="false" rot="0">
            <a:off x="16613787" y="426100"/>
            <a:ext cx="645513" cy="645513"/>
          </a:xfrm>
          <a:custGeom>
            <a:avLst/>
            <a:gdLst/>
            <a:ahLst/>
            <a:cxnLst/>
            <a:rect r="r" b="b" t="t" l="l"/>
            <a:pathLst>
              <a:path h="645513" w="645513">
                <a:moveTo>
                  <a:pt x="0" y="0"/>
                </a:moveTo>
                <a:lnTo>
                  <a:pt x="645513" y="0"/>
                </a:lnTo>
                <a:lnTo>
                  <a:pt x="645513" y="645513"/>
                </a:lnTo>
                <a:lnTo>
                  <a:pt x="0" y="645513"/>
                </a:lnTo>
                <a:lnTo>
                  <a:pt x="0" y="0"/>
                </a:lnTo>
                <a:close/>
              </a:path>
            </a:pathLst>
          </a:custGeom>
          <a:blipFill>
            <a:blip r:embed="rId4"/>
            <a:stretch>
              <a:fillRect l="0" t="0" r="0" b="0"/>
            </a:stretch>
          </a:blipFill>
        </p:spPr>
      </p:sp>
      <p:sp>
        <p:nvSpPr>
          <p:cNvPr name="Freeform 9" id="9"/>
          <p:cNvSpPr/>
          <p:nvPr/>
        </p:nvSpPr>
        <p:spPr>
          <a:xfrm flipH="false" flipV="false" rot="0">
            <a:off x="7060868" y="4911438"/>
            <a:ext cx="10565778" cy="1593252"/>
          </a:xfrm>
          <a:custGeom>
            <a:avLst/>
            <a:gdLst/>
            <a:ahLst/>
            <a:cxnLst/>
            <a:rect r="r" b="b" t="t" l="l"/>
            <a:pathLst>
              <a:path h="1593252" w="10565778">
                <a:moveTo>
                  <a:pt x="0" y="0"/>
                </a:moveTo>
                <a:lnTo>
                  <a:pt x="10565777" y="0"/>
                </a:lnTo>
                <a:lnTo>
                  <a:pt x="10565777" y="1593252"/>
                </a:lnTo>
                <a:lnTo>
                  <a:pt x="0" y="1593252"/>
                </a:lnTo>
                <a:lnTo>
                  <a:pt x="0" y="0"/>
                </a:lnTo>
                <a:close/>
              </a:path>
            </a:pathLst>
          </a:custGeom>
          <a:blipFill>
            <a:blip r:embed="rId5"/>
            <a:stretch>
              <a:fillRect l="0" t="0" r="0" b="0"/>
            </a:stretch>
          </a:blipFill>
        </p:spPr>
      </p:sp>
      <p:sp>
        <p:nvSpPr>
          <p:cNvPr name="TextBox 10" id="10"/>
          <p:cNvSpPr txBox="true"/>
          <p:nvPr/>
        </p:nvSpPr>
        <p:spPr>
          <a:xfrm rot="0">
            <a:off x="1028700" y="952500"/>
            <a:ext cx="5114979" cy="1562100"/>
          </a:xfrm>
          <a:prstGeom prst="rect">
            <a:avLst/>
          </a:prstGeom>
        </p:spPr>
        <p:txBody>
          <a:bodyPr anchor="t" rtlCol="false" tIns="0" lIns="0" bIns="0" rIns="0">
            <a:spAutoFit/>
          </a:bodyPr>
          <a:lstStyle/>
          <a:p>
            <a:pPr algn="l">
              <a:lnSpc>
                <a:spcPts val="6299"/>
              </a:lnSpc>
            </a:pPr>
            <a:r>
              <a:rPr lang="en-US" b="true" sz="4500" spc="89">
                <a:solidFill>
                  <a:srgbClr val="FFFFFF"/>
                </a:solidFill>
                <a:latin typeface="Garet Bold"/>
                <a:ea typeface="Garet Bold"/>
                <a:cs typeface="Garet Bold"/>
                <a:sym typeface="Garet Bold"/>
              </a:rPr>
              <a:t>EVALUASI MODEL</a:t>
            </a:r>
          </a:p>
        </p:txBody>
      </p:sp>
      <p:sp>
        <p:nvSpPr>
          <p:cNvPr name="TextBox 11" id="11"/>
          <p:cNvSpPr txBox="true"/>
          <p:nvPr/>
        </p:nvSpPr>
        <p:spPr>
          <a:xfrm rot="0">
            <a:off x="7060868" y="1495773"/>
            <a:ext cx="10565778" cy="2910840"/>
          </a:xfrm>
          <a:prstGeom prst="rect">
            <a:avLst/>
          </a:prstGeom>
        </p:spPr>
        <p:txBody>
          <a:bodyPr anchor="t" rtlCol="false" tIns="0" lIns="0" bIns="0" rIns="0">
            <a:spAutoFit/>
          </a:bodyPr>
          <a:lstStyle/>
          <a:p>
            <a:pPr algn="just">
              <a:lnSpc>
                <a:spcPts val="3359"/>
              </a:lnSpc>
            </a:pPr>
            <a:r>
              <a:rPr lang="en-US" sz="2400">
                <a:solidFill>
                  <a:srgbClr val="000000"/>
                </a:solidFill>
                <a:latin typeface="Canva Sans"/>
                <a:ea typeface="Canva Sans"/>
                <a:cs typeface="Canva Sans"/>
                <a:sym typeface="Canva Sans"/>
              </a:rPr>
              <a:t>Evaluasi model dilakuk</a:t>
            </a:r>
            <a:r>
              <a:rPr lang="en-US" sz="2400">
                <a:solidFill>
                  <a:srgbClr val="000000"/>
                </a:solidFill>
                <a:latin typeface="Canva Sans"/>
                <a:ea typeface="Canva Sans"/>
                <a:cs typeface="Canva Sans"/>
                <a:sym typeface="Canva Sans"/>
              </a:rPr>
              <a:t>an</a:t>
            </a:r>
            <a:r>
              <a:rPr lang="en-US" sz="2400">
                <a:solidFill>
                  <a:srgbClr val="000000"/>
                </a:solidFill>
                <a:latin typeface="Canva Sans"/>
                <a:ea typeface="Canva Sans"/>
                <a:cs typeface="Canva Sans"/>
                <a:sym typeface="Canva Sans"/>
              </a:rPr>
              <a:t> menggunakan data validasi untuk mengukur kemampuan model dalam mengklasifikasikan jenis cuaca yang belum pernah dilihat sebelumnya. Hasil evaluasi menunjukkan bahwa model CNN memiliki akurasi yang cukup baik dan mampu melakukan generalisasi dengan baik, yang diperkuat oleh grafik akurasi, grafik loss, serta confusion matrix yang menunjukkan sebagian besar prediksi berada pada kelas yang benar.</a:t>
            </a:r>
          </a:p>
        </p:txBody>
      </p:sp>
      <p:sp>
        <p:nvSpPr>
          <p:cNvPr name="TextBox 12" id="12"/>
          <p:cNvSpPr txBox="true"/>
          <p:nvPr/>
        </p:nvSpPr>
        <p:spPr>
          <a:xfrm rot="0">
            <a:off x="7868253" y="6655225"/>
            <a:ext cx="9068290" cy="396240"/>
          </a:xfrm>
          <a:prstGeom prst="rect">
            <a:avLst/>
          </a:prstGeom>
        </p:spPr>
        <p:txBody>
          <a:bodyPr anchor="t" rtlCol="false" tIns="0" lIns="0" bIns="0" rIns="0">
            <a:spAutoFit/>
          </a:bodyPr>
          <a:lstStyle/>
          <a:p>
            <a:pPr algn="just">
              <a:lnSpc>
                <a:spcPts val="3359"/>
              </a:lnSpc>
            </a:pPr>
            <a:r>
              <a:rPr lang="en-US" sz="2400">
                <a:solidFill>
                  <a:srgbClr val="000000"/>
                </a:solidFill>
                <a:latin typeface="Canva Sans"/>
                <a:ea typeface="Canva Sans"/>
                <a:cs typeface="Canva Sans"/>
                <a:sym typeface="Canva Sans"/>
              </a:rPr>
              <a:t>(untuk outputnya nanti ditunjukan dan dijelaskan di program)</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6416679" cy="10287000"/>
            <a:chOff x="0" y="0"/>
            <a:chExt cx="1689989" cy="2709333"/>
          </a:xfrm>
        </p:grpSpPr>
        <p:sp>
          <p:nvSpPr>
            <p:cNvPr name="Freeform 3" id="3"/>
            <p:cNvSpPr/>
            <p:nvPr/>
          </p:nvSpPr>
          <p:spPr>
            <a:xfrm flipH="false" flipV="false" rot="0">
              <a:off x="0" y="0"/>
              <a:ext cx="1689989" cy="2709333"/>
            </a:xfrm>
            <a:custGeom>
              <a:avLst/>
              <a:gdLst/>
              <a:ahLst/>
              <a:cxnLst/>
              <a:rect r="r" b="b" t="t" l="l"/>
              <a:pathLst>
                <a:path h="2709333" w="1689989">
                  <a:moveTo>
                    <a:pt x="0" y="0"/>
                  </a:moveTo>
                  <a:lnTo>
                    <a:pt x="1689989" y="0"/>
                  </a:lnTo>
                  <a:lnTo>
                    <a:pt x="1689989" y="2709333"/>
                  </a:lnTo>
                  <a:lnTo>
                    <a:pt x="0" y="2709333"/>
                  </a:lnTo>
                  <a:close/>
                </a:path>
              </a:pathLst>
            </a:custGeom>
            <a:solidFill>
              <a:srgbClr val="0345E4"/>
            </a:solidFill>
          </p:spPr>
        </p:sp>
        <p:sp>
          <p:nvSpPr>
            <p:cNvPr name="TextBox 4" id="4"/>
            <p:cNvSpPr txBox="true"/>
            <p:nvPr/>
          </p:nvSpPr>
          <p:spPr>
            <a:xfrm>
              <a:off x="0" y="-38100"/>
              <a:ext cx="1689989" cy="2747433"/>
            </a:xfrm>
            <a:prstGeom prst="rect">
              <a:avLst/>
            </a:prstGeom>
          </p:spPr>
          <p:txBody>
            <a:bodyPr anchor="ctr" rtlCol="false" tIns="50800" lIns="50800" bIns="50800" rIns="50800"/>
            <a:lstStyle/>
            <a:p>
              <a:pPr algn="ctr">
                <a:lnSpc>
                  <a:spcPts val="2659"/>
                </a:lnSpc>
              </a:pPr>
            </a:p>
          </p:txBody>
        </p:sp>
      </p:grpSp>
      <p:sp>
        <p:nvSpPr>
          <p:cNvPr name="AutoShape 5" id="5"/>
          <p:cNvSpPr/>
          <p:nvPr/>
        </p:nvSpPr>
        <p:spPr>
          <a:xfrm>
            <a:off x="1028700" y="3257005"/>
            <a:ext cx="1310100" cy="0"/>
          </a:xfrm>
          <a:prstGeom prst="line">
            <a:avLst/>
          </a:prstGeom>
          <a:ln cap="flat" w="95250">
            <a:solidFill>
              <a:srgbClr val="FFFFFF"/>
            </a:solidFill>
            <a:prstDash val="solid"/>
            <a:headEnd type="none" len="sm" w="sm"/>
            <a:tailEnd type="none" len="sm" w="sm"/>
          </a:ln>
        </p:spPr>
      </p:sp>
      <p:sp>
        <p:nvSpPr>
          <p:cNvPr name="Freeform 6" id="6"/>
          <p:cNvSpPr/>
          <p:nvPr/>
        </p:nvSpPr>
        <p:spPr>
          <a:xfrm flipH="false" flipV="false" rot="0">
            <a:off x="13530708" y="469013"/>
            <a:ext cx="2112543" cy="559687"/>
          </a:xfrm>
          <a:custGeom>
            <a:avLst/>
            <a:gdLst/>
            <a:ahLst/>
            <a:cxnLst/>
            <a:rect r="r" b="b" t="t" l="l"/>
            <a:pathLst>
              <a:path h="559687" w="2112543">
                <a:moveTo>
                  <a:pt x="0" y="0"/>
                </a:moveTo>
                <a:lnTo>
                  <a:pt x="2112544" y="0"/>
                </a:lnTo>
                <a:lnTo>
                  <a:pt x="2112544" y="559687"/>
                </a:lnTo>
                <a:lnTo>
                  <a:pt x="0" y="559687"/>
                </a:lnTo>
                <a:lnTo>
                  <a:pt x="0" y="0"/>
                </a:lnTo>
                <a:close/>
              </a:path>
            </a:pathLst>
          </a:custGeom>
          <a:blipFill>
            <a:blip r:embed="rId2"/>
            <a:stretch>
              <a:fillRect l="0" t="0" r="0" b="0"/>
            </a:stretch>
          </a:blipFill>
        </p:spPr>
      </p:sp>
      <p:sp>
        <p:nvSpPr>
          <p:cNvPr name="Freeform 7" id="7"/>
          <p:cNvSpPr/>
          <p:nvPr/>
        </p:nvSpPr>
        <p:spPr>
          <a:xfrm flipH="false" flipV="false" rot="0">
            <a:off x="15786127" y="412178"/>
            <a:ext cx="686062" cy="673358"/>
          </a:xfrm>
          <a:custGeom>
            <a:avLst/>
            <a:gdLst/>
            <a:ahLst/>
            <a:cxnLst/>
            <a:rect r="r" b="b" t="t" l="l"/>
            <a:pathLst>
              <a:path h="673358" w="686062">
                <a:moveTo>
                  <a:pt x="0" y="0"/>
                </a:moveTo>
                <a:lnTo>
                  <a:pt x="686062" y="0"/>
                </a:lnTo>
                <a:lnTo>
                  <a:pt x="686062" y="673357"/>
                </a:lnTo>
                <a:lnTo>
                  <a:pt x="0" y="673357"/>
                </a:lnTo>
                <a:lnTo>
                  <a:pt x="0" y="0"/>
                </a:lnTo>
                <a:close/>
              </a:path>
            </a:pathLst>
          </a:custGeom>
          <a:blipFill>
            <a:blip r:embed="rId3"/>
            <a:stretch>
              <a:fillRect l="0" t="0" r="0" b="0"/>
            </a:stretch>
          </a:blipFill>
        </p:spPr>
      </p:sp>
      <p:sp>
        <p:nvSpPr>
          <p:cNvPr name="Freeform 8" id="8"/>
          <p:cNvSpPr/>
          <p:nvPr/>
        </p:nvSpPr>
        <p:spPr>
          <a:xfrm flipH="false" flipV="false" rot="0">
            <a:off x="16613787" y="426100"/>
            <a:ext cx="645513" cy="645513"/>
          </a:xfrm>
          <a:custGeom>
            <a:avLst/>
            <a:gdLst/>
            <a:ahLst/>
            <a:cxnLst/>
            <a:rect r="r" b="b" t="t" l="l"/>
            <a:pathLst>
              <a:path h="645513" w="645513">
                <a:moveTo>
                  <a:pt x="0" y="0"/>
                </a:moveTo>
                <a:lnTo>
                  <a:pt x="645513" y="0"/>
                </a:lnTo>
                <a:lnTo>
                  <a:pt x="645513" y="645513"/>
                </a:lnTo>
                <a:lnTo>
                  <a:pt x="0" y="645513"/>
                </a:lnTo>
                <a:lnTo>
                  <a:pt x="0" y="0"/>
                </a:lnTo>
                <a:close/>
              </a:path>
            </a:pathLst>
          </a:custGeom>
          <a:blipFill>
            <a:blip r:embed="rId4"/>
            <a:stretch>
              <a:fillRect l="0" t="0" r="0" b="0"/>
            </a:stretch>
          </a:blipFill>
        </p:spPr>
      </p:sp>
      <p:sp>
        <p:nvSpPr>
          <p:cNvPr name="Freeform 9" id="9"/>
          <p:cNvSpPr/>
          <p:nvPr/>
        </p:nvSpPr>
        <p:spPr>
          <a:xfrm flipH="false" flipV="false" rot="0">
            <a:off x="9000976" y="4175884"/>
            <a:ext cx="6785151" cy="4847955"/>
          </a:xfrm>
          <a:custGeom>
            <a:avLst/>
            <a:gdLst/>
            <a:ahLst/>
            <a:cxnLst/>
            <a:rect r="r" b="b" t="t" l="l"/>
            <a:pathLst>
              <a:path h="4847955" w="6785151">
                <a:moveTo>
                  <a:pt x="0" y="0"/>
                </a:moveTo>
                <a:lnTo>
                  <a:pt x="6785151" y="0"/>
                </a:lnTo>
                <a:lnTo>
                  <a:pt x="6785151" y="4847955"/>
                </a:lnTo>
                <a:lnTo>
                  <a:pt x="0" y="4847955"/>
                </a:lnTo>
                <a:lnTo>
                  <a:pt x="0" y="0"/>
                </a:lnTo>
                <a:close/>
              </a:path>
            </a:pathLst>
          </a:custGeom>
          <a:blipFill>
            <a:blip r:embed="rId5"/>
            <a:stretch>
              <a:fillRect l="0" t="0" r="0" b="0"/>
            </a:stretch>
          </a:blipFill>
        </p:spPr>
      </p:sp>
      <p:sp>
        <p:nvSpPr>
          <p:cNvPr name="TextBox 10" id="10"/>
          <p:cNvSpPr txBox="true"/>
          <p:nvPr/>
        </p:nvSpPr>
        <p:spPr>
          <a:xfrm rot="0">
            <a:off x="1028700" y="1009335"/>
            <a:ext cx="5114979" cy="1562100"/>
          </a:xfrm>
          <a:prstGeom prst="rect">
            <a:avLst/>
          </a:prstGeom>
        </p:spPr>
        <p:txBody>
          <a:bodyPr anchor="t" rtlCol="false" tIns="0" lIns="0" bIns="0" rIns="0">
            <a:spAutoFit/>
          </a:bodyPr>
          <a:lstStyle/>
          <a:p>
            <a:pPr algn="l">
              <a:lnSpc>
                <a:spcPts val="6299"/>
              </a:lnSpc>
            </a:pPr>
            <a:r>
              <a:rPr lang="en-US" b="true" sz="4500" spc="89">
                <a:solidFill>
                  <a:srgbClr val="FFFFFF"/>
                </a:solidFill>
                <a:latin typeface="Garet Bold"/>
                <a:ea typeface="Garet Bold"/>
                <a:cs typeface="Garet Bold"/>
                <a:sym typeface="Garet Bold"/>
              </a:rPr>
              <a:t>PREDIKSI GAMBAR</a:t>
            </a:r>
          </a:p>
        </p:txBody>
      </p:sp>
      <p:sp>
        <p:nvSpPr>
          <p:cNvPr name="TextBox 11" id="11"/>
          <p:cNvSpPr txBox="true"/>
          <p:nvPr/>
        </p:nvSpPr>
        <p:spPr>
          <a:xfrm rot="0">
            <a:off x="7203043" y="1495773"/>
            <a:ext cx="10565778" cy="2491740"/>
          </a:xfrm>
          <a:prstGeom prst="rect">
            <a:avLst/>
          </a:prstGeom>
        </p:spPr>
        <p:txBody>
          <a:bodyPr anchor="t" rtlCol="false" tIns="0" lIns="0" bIns="0" rIns="0">
            <a:spAutoFit/>
          </a:bodyPr>
          <a:lstStyle/>
          <a:p>
            <a:pPr algn="just">
              <a:lnSpc>
                <a:spcPts val="3359"/>
              </a:lnSpc>
            </a:pPr>
            <a:r>
              <a:rPr lang="en-US" sz="2400">
                <a:solidFill>
                  <a:srgbClr val="000000"/>
                </a:solidFill>
                <a:latin typeface="Canva Sans"/>
                <a:ea typeface="Canva Sans"/>
                <a:cs typeface="Canva Sans"/>
                <a:sym typeface="Canva Sans"/>
              </a:rPr>
              <a:t>Pada</a:t>
            </a:r>
            <a:r>
              <a:rPr lang="en-US" sz="2400">
                <a:solidFill>
                  <a:srgbClr val="000000"/>
                </a:solidFill>
                <a:latin typeface="Canva Sans"/>
                <a:ea typeface="Canva Sans"/>
                <a:cs typeface="Canva Sans"/>
                <a:sym typeface="Canva Sans"/>
              </a:rPr>
              <a:t> tahap prediksi gambar, model CNN digunakan untuk mengklasifikasikan citra langit baru yang belum pernah digunakan pada proses pelatihan. Gambar input diproses oleh model dan menghasilkan prediksi jenis cuaca beserta tingkat keyakinannya, sehingga dapat diketahui apakah citra tersebut termasuk cuaca cerah, berawan, hujan, atau matahari terbit.</a:t>
            </a:r>
          </a:p>
        </p:txBody>
      </p:sp>
      <p:sp>
        <p:nvSpPr>
          <p:cNvPr name="TextBox 12" id="12"/>
          <p:cNvSpPr txBox="true"/>
          <p:nvPr/>
        </p:nvSpPr>
        <p:spPr>
          <a:xfrm rot="0">
            <a:off x="7777430" y="9220200"/>
            <a:ext cx="9068290" cy="396240"/>
          </a:xfrm>
          <a:prstGeom prst="rect">
            <a:avLst/>
          </a:prstGeom>
        </p:spPr>
        <p:txBody>
          <a:bodyPr anchor="t" rtlCol="false" tIns="0" lIns="0" bIns="0" rIns="0">
            <a:spAutoFit/>
          </a:bodyPr>
          <a:lstStyle/>
          <a:p>
            <a:pPr algn="just">
              <a:lnSpc>
                <a:spcPts val="3359"/>
              </a:lnSpc>
            </a:pPr>
            <a:r>
              <a:rPr lang="en-US" sz="2400">
                <a:solidFill>
                  <a:srgbClr val="000000"/>
                </a:solidFill>
                <a:latin typeface="Canva Sans"/>
                <a:ea typeface="Canva Sans"/>
                <a:cs typeface="Canva Sans"/>
                <a:sym typeface="Canva Sans"/>
              </a:rPr>
              <a:t>(untuk outputnya nanti ditunjukan dan dijelaskan di program)</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23825" y="0"/>
            <a:ext cx="6416679" cy="10287000"/>
            <a:chOff x="0" y="0"/>
            <a:chExt cx="1689989" cy="2709333"/>
          </a:xfrm>
        </p:grpSpPr>
        <p:sp>
          <p:nvSpPr>
            <p:cNvPr name="Freeform 3" id="3"/>
            <p:cNvSpPr/>
            <p:nvPr/>
          </p:nvSpPr>
          <p:spPr>
            <a:xfrm flipH="false" flipV="false" rot="0">
              <a:off x="0" y="0"/>
              <a:ext cx="1689989" cy="2709333"/>
            </a:xfrm>
            <a:custGeom>
              <a:avLst/>
              <a:gdLst/>
              <a:ahLst/>
              <a:cxnLst/>
              <a:rect r="r" b="b" t="t" l="l"/>
              <a:pathLst>
                <a:path h="2709333" w="1689989">
                  <a:moveTo>
                    <a:pt x="0" y="0"/>
                  </a:moveTo>
                  <a:lnTo>
                    <a:pt x="1689989" y="0"/>
                  </a:lnTo>
                  <a:lnTo>
                    <a:pt x="1689989" y="2709333"/>
                  </a:lnTo>
                  <a:lnTo>
                    <a:pt x="0" y="2709333"/>
                  </a:lnTo>
                  <a:close/>
                </a:path>
              </a:pathLst>
            </a:custGeom>
            <a:solidFill>
              <a:srgbClr val="0345E4"/>
            </a:solidFill>
          </p:spPr>
        </p:sp>
        <p:sp>
          <p:nvSpPr>
            <p:cNvPr name="TextBox 4" id="4"/>
            <p:cNvSpPr txBox="true"/>
            <p:nvPr/>
          </p:nvSpPr>
          <p:spPr>
            <a:xfrm>
              <a:off x="0" y="-38100"/>
              <a:ext cx="1689989" cy="2747433"/>
            </a:xfrm>
            <a:prstGeom prst="rect">
              <a:avLst/>
            </a:prstGeom>
          </p:spPr>
          <p:txBody>
            <a:bodyPr anchor="ctr" rtlCol="false" tIns="50800" lIns="50800" bIns="50800" rIns="50800"/>
            <a:lstStyle/>
            <a:p>
              <a:pPr algn="ctr">
                <a:lnSpc>
                  <a:spcPts val="2659"/>
                </a:lnSpc>
              </a:pPr>
            </a:p>
          </p:txBody>
        </p:sp>
      </p:grpSp>
      <p:sp>
        <p:nvSpPr>
          <p:cNvPr name="AutoShape 5" id="5"/>
          <p:cNvSpPr/>
          <p:nvPr/>
        </p:nvSpPr>
        <p:spPr>
          <a:xfrm>
            <a:off x="1028700" y="2267091"/>
            <a:ext cx="1310100" cy="0"/>
          </a:xfrm>
          <a:prstGeom prst="line">
            <a:avLst/>
          </a:prstGeom>
          <a:ln cap="flat" w="95250">
            <a:solidFill>
              <a:srgbClr val="FFFFFF"/>
            </a:solidFill>
            <a:prstDash val="solid"/>
            <a:headEnd type="none" len="sm" w="sm"/>
            <a:tailEnd type="none" len="sm" w="sm"/>
          </a:ln>
        </p:spPr>
      </p:sp>
      <p:sp>
        <p:nvSpPr>
          <p:cNvPr name="TextBox 6" id="6"/>
          <p:cNvSpPr txBox="true"/>
          <p:nvPr/>
        </p:nvSpPr>
        <p:spPr>
          <a:xfrm rot="0">
            <a:off x="1028700" y="952500"/>
            <a:ext cx="5991183" cy="762000"/>
          </a:xfrm>
          <a:prstGeom prst="rect">
            <a:avLst/>
          </a:prstGeom>
        </p:spPr>
        <p:txBody>
          <a:bodyPr anchor="t" rtlCol="false" tIns="0" lIns="0" bIns="0" rIns="0">
            <a:spAutoFit/>
          </a:bodyPr>
          <a:lstStyle/>
          <a:p>
            <a:pPr algn="l">
              <a:lnSpc>
                <a:spcPts val="6299"/>
              </a:lnSpc>
            </a:pPr>
            <a:r>
              <a:rPr lang="en-US" b="true" sz="4500" spc="89">
                <a:solidFill>
                  <a:srgbClr val="FFFFFF"/>
                </a:solidFill>
                <a:latin typeface="Garet Bold"/>
                <a:ea typeface="Garet Bold"/>
                <a:cs typeface="Garet Bold"/>
                <a:sym typeface="Garet Bold"/>
              </a:rPr>
              <a:t>KESIMPULAN</a:t>
            </a:r>
          </a:p>
        </p:txBody>
      </p:sp>
      <p:grpSp>
        <p:nvGrpSpPr>
          <p:cNvPr name="Group 7" id="7"/>
          <p:cNvGrpSpPr/>
          <p:nvPr/>
        </p:nvGrpSpPr>
        <p:grpSpPr>
          <a:xfrm rot="0">
            <a:off x="7019883" y="1371600"/>
            <a:ext cx="10378523" cy="7339296"/>
            <a:chOff x="0" y="0"/>
            <a:chExt cx="2733438" cy="1932983"/>
          </a:xfrm>
        </p:grpSpPr>
        <p:sp>
          <p:nvSpPr>
            <p:cNvPr name="Freeform 8" id="8"/>
            <p:cNvSpPr/>
            <p:nvPr/>
          </p:nvSpPr>
          <p:spPr>
            <a:xfrm flipH="false" flipV="false" rot="0">
              <a:off x="0" y="0"/>
              <a:ext cx="2733438" cy="1932983"/>
            </a:xfrm>
            <a:custGeom>
              <a:avLst/>
              <a:gdLst/>
              <a:ahLst/>
              <a:cxnLst/>
              <a:rect r="r" b="b" t="t" l="l"/>
              <a:pathLst>
                <a:path h="1932983" w="2733438">
                  <a:moveTo>
                    <a:pt x="38044" y="0"/>
                  </a:moveTo>
                  <a:lnTo>
                    <a:pt x="2695395" y="0"/>
                  </a:lnTo>
                  <a:cubicBezTo>
                    <a:pt x="2716406" y="0"/>
                    <a:pt x="2733438" y="17033"/>
                    <a:pt x="2733438" y="38044"/>
                  </a:cubicBezTo>
                  <a:lnTo>
                    <a:pt x="2733438" y="1894939"/>
                  </a:lnTo>
                  <a:cubicBezTo>
                    <a:pt x="2733438" y="1915950"/>
                    <a:pt x="2716406" y="1932983"/>
                    <a:pt x="2695395" y="1932983"/>
                  </a:cubicBezTo>
                  <a:lnTo>
                    <a:pt x="38044" y="1932983"/>
                  </a:lnTo>
                  <a:cubicBezTo>
                    <a:pt x="17033" y="1932983"/>
                    <a:pt x="0" y="1915950"/>
                    <a:pt x="0" y="1894939"/>
                  </a:cubicBezTo>
                  <a:lnTo>
                    <a:pt x="0" y="38044"/>
                  </a:lnTo>
                  <a:cubicBezTo>
                    <a:pt x="0" y="17033"/>
                    <a:pt x="17033" y="0"/>
                    <a:pt x="38044" y="0"/>
                  </a:cubicBezTo>
                  <a:close/>
                </a:path>
              </a:pathLst>
            </a:custGeom>
            <a:solidFill>
              <a:srgbClr val="E8ECEC"/>
            </a:solidFill>
          </p:spPr>
        </p:sp>
        <p:sp>
          <p:nvSpPr>
            <p:cNvPr name="TextBox 9" id="9"/>
            <p:cNvSpPr txBox="true"/>
            <p:nvPr/>
          </p:nvSpPr>
          <p:spPr>
            <a:xfrm>
              <a:off x="0" y="-38100"/>
              <a:ext cx="2733438" cy="1971083"/>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7619880" y="1824372"/>
            <a:ext cx="9220410" cy="7265035"/>
          </a:xfrm>
          <a:prstGeom prst="rect">
            <a:avLst/>
          </a:prstGeom>
        </p:spPr>
        <p:txBody>
          <a:bodyPr anchor="t" rtlCol="false" tIns="0" lIns="0" bIns="0" rIns="0">
            <a:spAutoFit/>
          </a:bodyPr>
          <a:lstStyle/>
          <a:p>
            <a:pPr algn="just">
              <a:lnSpc>
                <a:spcPts val="3410"/>
              </a:lnSpc>
            </a:pPr>
            <a:r>
              <a:rPr lang="en-US" sz="2200">
                <a:solidFill>
                  <a:srgbClr val="000000"/>
                </a:solidFill>
                <a:latin typeface="Open Sans"/>
                <a:ea typeface="Open Sans"/>
                <a:cs typeface="Open Sans"/>
                <a:sym typeface="Open Sans"/>
              </a:rPr>
              <a:t>Berdasarkan hasil pengujian, m</a:t>
            </a:r>
            <a:r>
              <a:rPr lang="en-US" sz="2200">
                <a:solidFill>
                  <a:srgbClr val="000000"/>
                </a:solidFill>
                <a:latin typeface="Open Sans"/>
                <a:ea typeface="Open Sans"/>
                <a:cs typeface="Open Sans"/>
                <a:sym typeface="Open Sans"/>
              </a:rPr>
              <a:t>odel CNN yang dikembangkan mampu mengklasifikasikan jenis cuaca dari citra langit ke dalam empat kategori dengan hasil yang memuaskan. Nilai akurasi yang tinggi serta penurunan loss selama pelatihan menunjukkan bahwa model berhasil mempelajari pola visual dengan baik dan mampu melakukan generalisasi terhadap data baru. Meskipun masih terdapat beberapa kesalahan prediksi, terutama pada kelas cuaca yang memiliki kemiripan visual, secara keseluruhan model menunjukkan performa yang stabil dan konsisten.</a:t>
            </a:r>
          </a:p>
          <a:p>
            <a:pPr algn="just">
              <a:lnSpc>
                <a:spcPts val="3410"/>
              </a:lnSpc>
            </a:pPr>
          </a:p>
          <a:p>
            <a:pPr algn="just" marL="0" indent="0" lvl="0">
              <a:lnSpc>
                <a:spcPts val="3410"/>
              </a:lnSpc>
            </a:pPr>
            <a:r>
              <a:rPr lang="en-US" sz="2200">
                <a:solidFill>
                  <a:srgbClr val="000000"/>
                </a:solidFill>
                <a:latin typeface="Open Sans"/>
                <a:ea typeface="Open Sans"/>
                <a:cs typeface="Open Sans"/>
                <a:sym typeface="Open Sans"/>
              </a:rPr>
              <a:t>Sistem ini memiliki potensi besar untuk dikembangkan lebih lanjut sebagai dasar sistem pemantauan cuaca berbasis visual di masa depan. Peluang peningkatan akurasi masih terbuka melalui penggunaan dataset yang lebih besar, teknik augmentasi data, atau optimasi arsitektur model secara lebih mendalam.</a:t>
            </a:r>
          </a:p>
          <a:p>
            <a:pPr algn="just" marL="0" indent="0" lvl="0">
              <a:lnSpc>
                <a:spcPts val="3410"/>
              </a:lnSpc>
            </a:pPr>
          </a:p>
          <a:p>
            <a:pPr algn="just" marL="0" indent="0" lvl="0">
              <a:lnSpc>
                <a:spcPts val="3410"/>
              </a:lnSpc>
            </a:pPr>
          </a:p>
        </p:txBody>
      </p:sp>
      <p:sp>
        <p:nvSpPr>
          <p:cNvPr name="Freeform 11" id="11"/>
          <p:cNvSpPr/>
          <p:nvPr/>
        </p:nvSpPr>
        <p:spPr>
          <a:xfrm flipH="false" flipV="false" rot="0">
            <a:off x="13792535" y="393514"/>
            <a:ext cx="2112543" cy="559687"/>
          </a:xfrm>
          <a:custGeom>
            <a:avLst/>
            <a:gdLst/>
            <a:ahLst/>
            <a:cxnLst/>
            <a:rect r="r" b="b" t="t" l="l"/>
            <a:pathLst>
              <a:path h="559687" w="2112543">
                <a:moveTo>
                  <a:pt x="0" y="0"/>
                </a:moveTo>
                <a:lnTo>
                  <a:pt x="2112543" y="0"/>
                </a:lnTo>
                <a:lnTo>
                  <a:pt x="2112543" y="559687"/>
                </a:lnTo>
                <a:lnTo>
                  <a:pt x="0" y="559687"/>
                </a:lnTo>
                <a:lnTo>
                  <a:pt x="0" y="0"/>
                </a:lnTo>
                <a:close/>
              </a:path>
            </a:pathLst>
          </a:custGeom>
          <a:blipFill>
            <a:blip r:embed="rId2"/>
            <a:stretch>
              <a:fillRect l="0" t="0" r="0" b="0"/>
            </a:stretch>
          </a:blipFill>
        </p:spPr>
      </p:sp>
      <p:sp>
        <p:nvSpPr>
          <p:cNvPr name="Freeform 12" id="12"/>
          <p:cNvSpPr/>
          <p:nvPr/>
        </p:nvSpPr>
        <p:spPr>
          <a:xfrm flipH="false" flipV="false" rot="0">
            <a:off x="16028903" y="336679"/>
            <a:ext cx="686062" cy="673358"/>
          </a:xfrm>
          <a:custGeom>
            <a:avLst/>
            <a:gdLst/>
            <a:ahLst/>
            <a:cxnLst/>
            <a:rect r="r" b="b" t="t" l="l"/>
            <a:pathLst>
              <a:path h="673358" w="686062">
                <a:moveTo>
                  <a:pt x="0" y="0"/>
                </a:moveTo>
                <a:lnTo>
                  <a:pt x="686063" y="0"/>
                </a:lnTo>
                <a:lnTo>
                  <a:pt x="686063" y="673357"/>
                </a:lnTo>
                <a:lnTo>
                  <a:pt x="0" y="673357"/>
                </a:lnTo>
                <a:lnTo>
                  <a:pt x="0" y="0"/>
                </a:lnTo>
                <a:close/>
              </a:path>
            </a:pathLst>
          </a:custGeom>
          <a:blipFill>
            <a:blip r:embed="rId3"/>
            <a:stretch>
              <a:fillRect l="0" t="0" r="0" b="0"/>
            </a:stretch>
          </a:blipFill>
        </p:spPr>
      </p:sp>
      <p:sp>
        <p:nvSpPr>
          <p:cNvPr name="Freeform 13" id="13"/>
          <p:cNvSpPr/>
          <p:nvPr/>
        </p:nvSpPr>
        <p:spPr>
          <a:xfrm flipH="false" flipV="false" rot="0">
            <a:off x="16840290" y="336679"/>
            <a:ext cx="645513" cy="645513"/>
          </a:xfrm>
          <a:custGeom>
            <a:avLst/>
            <a:gdLst/>
            <a:ahLst/>
            <a:cxnLst/>
            <a:rect r="r" b="b" t="t" l="l"/>
            <a:pathLst>
              <a:path h="645513" w="645513">
                <a:moveTo>
                  <a:pt x="0" y="0"/>
                </a:moveTo>
                <a:lnTo>
                  <a:pt x="645514" y="0"/>
                </a:lnTo>
                <a:lnTo>
                  <a:pt x="645514" y="645513"/>
                </a:lnTo>
                <a:lnTo>
                  <a:pt x="0" y="645513"/>
                </a:lnTo>
                <a:lnTo>
                  <a:pt x="0" y="0"/>
                </a:lnTo>
                <a:close/>
              </a:path>
            </a:pathLst>
          </a:custGeom>
          <a:blipFill>
            <a:blip r:embed="rId4"/>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59300" y="7109187"/>
            <a:ext cx="1028700" cy="3177813"/>
            <a:chOff x="0" y="0"/>
            <a:chExt cx="812800" cy="2510865"/>
          </a:xfrm>
        </p:grpSpPr>
        <p:sp>
          <p:nvSpPr>
            <p:cNvPr name="Freeform 3" id="3"/>
            <p:cNvSpPr/>
            <p:nvPr/>
          </p:nvSpPr>
          <p:spPr>
            <a:xfrm flipH="false" flipV="false" rot="0">
              <a:off x="0" y="0"/>
              <a:ext cx="812800" cy="2510865"/>
            </a:xfrm>
            <a:custGeom>
              <a:avLst/>
              <a:gdLst/>
              <a:ahLst/>
              <a:cxnLst/>
              <a:rect r="r" b="b" t="t" l="l"/>
              <a:pathLst>
                <a:path h="2510865" w="812800">
                  <a:moveTo>
                    <a:pt x="0" y="0"/>
                  </a:moveTo>
                  <a:lnTo>
                    <a:pt x="812800" y="0"/>
                  </a:lnTo>
                  <a:lnTo>
                    <a:pt x="812800" y="2510865"/>
                  </a:lnTo>
                  <a:lnTo>
                    <a:pt x="0" y="2510865"/>
                  </a:lnTo>
                  <a:close/>
                </a:path>
              </a:pathLst>
            </a:custGeom>
            <a:solidFill>
              <a:srgbClr val="0345E4"/>
            </a:solidFill>
          </p:spPr>
        </p:sp>
        <p:sp>
          <p:nvSpPr>
            <p:cNvPr name="TextBox 4" id="4"/>
            <p:cNvSpPr txBox="true"/>
            <p:nvPr/>
          </p:nvSpPr>
          <p:spPr>
            <a:xfrm>
              <a:off x="0" y="-38100"/>
              <a:ext cx="812800" cy="2548965"/>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0" y="7109187"/>
            <a:ext cx="11842469" cy="3177813"/>
            <a:chOff x="0" y="0"/>
            <a:chExt cx="9357013" cy="2510865"/>
          </a:xfrm>
        </p:grpSpPr>
        <p:sp>
          <p:nvSpPr>
            <p:cNvPr name="Freeform 6" id="6"/>
            <p:cNvSpPr/>
            <p:nvPr/>
          </p:nvSpPr>
          <p:spPr>
            <a:xfrm flipH="false" flipV="false" rot="0">
              <a:off x="0" y="0"/>
              <a:ext cx="9357013" cy="2510865"/>
            </a:xfrm>
            <a:custGeom>
              <a:avLst/>
              <a:gdLst/>
              <a:ahLst/>
              <a:cxnLst/>
              <a:rect r="r" b="b" t="t" l="l"/>
              <a:pathLst>
                <a:path h="2510865" w="9357013">
                  <a:moveTo>
                    <a:pt x="0" y="0"/>
                  </a:moveTo>
                  <a:lnTo>
                    <a:pt x="9357013" y="0"/>
                  </a:lnTo>
                  <a:lnTo>
                    <a:pt x="9357013" y="2510865"/>
                  </a:lnTo>
                  <a:lnTo>
                    <a:pt x="0" y="2510865"/>
                  </a:lnTo>
                  <a:close/>
                </a:path>
              </a:pathLst>
            </a:custGeom>
            <a:solidFill>
              <a:srgbClr val="F6F6F6"/>
            </a:solidFill>
          </p:spPr>
        </p:sp>
        <p:sp>
          <p:nvSpPr>
            <p:cNvPr name="TextBox 7" id="7"/>
            <p:cNvSpPr txBox="true"/>
            <p:nvPr/>
          </p:nvSpPr>
          <p:spPr>
            <a:xfrm>
              <a:off x="0" y="-38100"/>
              <a:ext cx="9357013" cy="254896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7259300" y="0"/>
            <a:ext cx="1028700" cy="102870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345E4"/>
            </a:solidFill>
          </p:spPr>
        </p:sp>
        <p:sp>
          <p:nvSpPr>
            <p:cNvPr name="TextBox 10" id="10"/>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609914" y="0"/>
            <a:ext cx="1694792" cy="10287000"/>
            <a:chOff x="0" y="0"/>
            <a:chExt cx="446365" cy="2709333"/>
          </a:xfrm>
        </p:grpSpPr>
        <p:sp>
          <p:nvSpPr>
            <p:cNvPr name="Freeform 12" id="12"/>
            <p:cNvSpPr/>
            <p:nvPr/>
          </p:nvSpPr>
          <p:spPr>
            <a:xfrm flipH="false" flipV="false" rot="0">
              <a:off x="0" y="0"/>
              <a:ext cx="446365" cy="2709333"/>
            </a:xfrm>
            <a:custGeom>
              <a:avLst/>
              <a:gdLst/>
              <a:ahLst/>
              <a:cxnLst/>
              <a:rect r="r" b="b" t="t" l="l"/>
              <a:pathLst>
                <a:path h="2709333" w="446365">
                  <a:moveTo>
                    <a:pt x="223183" y="0"/>
                  </a:moveTo>
                  <a:lnTo>
                    <a:pt x="223183" y="0"/>
                  </a:lnTo>
                  <a:cubicBezTo>
                    <a:pt x="282374" y="0"/>
                    <a:pt x="339142" y="23514"/>
                    <a:pt x="380996" y="65369"/>
                  </a:cubicBezTo>
                  <a:cubicBezTo>
                    <a:pt x="422851" y="107224"/>
                    <a:pt x="446365" y="163991"/>
                    <a:pt x="446365" y="223183"/>
                  </a:cubicBezTo>
                  <a:lnTo>
                    <a:pt x="446365" y="2486151"/>
                  </a:lnTo>
                  <a:cubicBezTo>
                    <a:pt x="446365" y="2609411"/>
                    <a:pt x="346443" y="2709333"/>
                    <a:pt x="223183" y="2709333"/>
                  </a:cubicBezTo>
                  <a:lnTo>
                    <a:pt x="223183" y="2709333"/>
                  </a:lnTo>
                  <a:cubicBezTo>
                    <a:pt x="99922" y="2709333"/>
                    <a:pt x="0" y="2609411"/>
                    <a:pt x="0" y="2486151"/>
                  </a:cubicBezTo>
                  <a:lnTo>
                    <a:pt x="0" y="223183"/>
                  </a:lnTo>
                  <a:cubicBezTo>
                    <a:pt x="0" y="99922"/>
                    <a:pt x="99922" y="0"/>
                    <a:pt x="223183" y="0"/>
                  </a:cubicBezTo>
                  <a:close/>
                </a:path>
              </a:pathLst>
            </a:custGeom>
            <a:solidFill>
              <a:srgbClr val="0345E4"/>
            </a:solidFill>
          </p:spPr>
        </p:sp>
        <p:sp>
          <p:nvSpPr>
            <p:cNvPr name="TextBox 13" id="13"/>
            <p:cNvSpPr txBox="true"/>
            <p:nvPr/>
          </p:nvSpPr>
          <p:spPr>
            <a:xfrm>
              <a:off x="0" y="-38100"/>
              <a:ext cx="446365" cy="2747433"/>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0853887" y="786854"/>
            <a:ext cx="1977164" cy="197716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199699" y="0"/>
                  </a:moveTo>
                  <a:lnTo>
                    <a:pt x="613101" y="0"/>
                  </a:lnTo>
                  <a:cubicBezTo>
                    <a:pt x="666064" y="0"/>
                    <a:pt x="716859" y="21040"/>
                    <a:pt x="754309" y="58491"/>
                  </a:cubicBezTo>
                  <a:cubicBezTo>
                    <a:pt x="791760" y="95941"/>
                    <a:pt x="812800" y="146736"/>
                    <a:pt x="812800" y="199699"/>
                  </a:cubicBezTo>
                  <a:lnTo>
                    <a:pt x="812800" y="613101"/>
                  </a:lnTo>
                  <a:cubicBezTo>
                    <a:pt x="812800" y="666064"/>
                    <a:pt x="791760" y="716859"/>
                    <a:pt x="754309" y="754309"/>
                  </a:cubicBezTo>
                  <a:cubicBezTo>
                    <a:pt x="716859" y="791760"/>
                    <a:pt x="666064" y="812800"/>
                    <a:pt x="613101" y="812800"/>
                  </a:cubicBezTo>
                  <a:lnTo>
                    <a:pt x="199699" y="812800"/>
                  </a:lnTo>
                  <a:cubicBezTo>
                    <a:pt x="146736" y="812800"/>
                    <a:pt x="95941" y="791760"/>
                    <a:pt x="58491" y="754309"/>
                  </a:cubicBezTo>
                  <a:cubicBezTo>
                    <a:pt x="21040" y="716859"/>
                    <a:pt x="0" y="666064"/>
                    <a:pt x="0" y="613101"/>
                  </a:cubicBezTo>
                  <a:lnTo>
                    <a:pt x="0" y="199699"/>
                  </a:lnTo>
                  <a:cubicBezTo>
                    <a:pt x="0" y="146736"/>
                    <a:pt x="21040" y="95941"/>
                    <a:pt x="58491" y="58491"/>
                  </a:cubicBezTo>
                  <a:cubicBezTo>
                    <a:pt x="95941" y="21040"/>
                    <a:pt x="146736" y="0"/>
                    <a:pt x="199699" y="0"/>
                  </a:cubicBezTo>
                  <a:close/>
                </a:path>
              </a:pathLst>
            </a:custGeom>
            <a:solidFill>
              <a:srgbClr val="0345E4">
                <a:alpha val="29804"/>
              </a:srgbClr>
            </a:solidFill>
          </p:spPr>
        </p:sp>
        <p:sp>
          <p:nvSpPr>
            <p:cNvPr name="TextBox 16" id="16"/>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5374154" y="5095875"/>
            <a:ext cx="8766566" cy="1019175"/>
          </a:xfrm>
          <a:prstGeom prst="rect">
            <a:avLst/>
          </a:prstGeom>
        </p:spPr>
        <p:txBody>
          <a:bodyPr anchor="t" rtlCol="false" tIns="0" lIns="0" bIns="0" rIns="0">
            <a:spAutoFit/>
          </a:bodyPr>
          <a:lstStyle/>
          <a:p>
            <a:pPr algn="ctr">
              <a:lnSpc>
                <a:spcPts val="4199"/>
              </a:lnSpc>
            </a:pPr>
            <a:r>
              <a:rPr lang="en-US" sz="2999" spc="299">
                <a:solidFill>
                  <a:srgbClr val="000000"/>
                </a:solidFill>
                <a:latin typeface="Garet"/>
                <a:ea typeface="Garet"/>
                <a:cs typeface="Garet"/>
                <a:sym typeface="Garet"/>
              </a:rPr>
              <a:t>MOHON MAAF APABILA BANYAK KESALAHAN DAN KEKURANGAN</a:t>
            </a:r>
          </a:p>
        </p:txBody>
      </p:sp>
      <p:sp>
        <p:nvSpPr>
          <p:cNvPr name="TextBox 18" id="18"/>
          <p:cNvSpPr txBox="true"/>
          <p:nvPr/>
        </p:nvSpPr>
        <p:spPr>
          <a:xfrm rot="0">
            <a:off x="4754496" y="3168734"/>
            <a:ext cx="10005882" cy="1523365"/>
          </a:xfrm>
          <a:prstGeom prst="rect">
            <a:avLst/>
          </a:prstGeom>
        </p:spPr>
        <p:txBody>
          <a:bodyPr anchor="t" rtlCol="false" tIns="0" lIns="0" bIns="0" rIns="0">
            <a:spAutoFit/>
          </a:bodyPr>
          <a:lstStyle/>
          <a:p>
            <a:pPr algn="l">
              <a:lnSpc>
                <a:spcPts val="11960"/>
              </a:lnSpc>
            </a:pPr>
            <a:r>
              <a:rPr lang="en-US" sz="10400" b="true">
                <a:solidFill>
                  <a:srgbClr val="000000"/>
                </a:solidFill>
                <a:latin typeface="Garet Bold"/>
                <a:ea typeface="Garet Bold"/>
                <a:cs typeface="Garet Bold"/>
                <a:sym typeface="Garet Bold"/>
              </a:rPr>
              <a:t>TERIMAKASIH</a:t>
            </a:r>
          </a:p>
        </p:txBody>
      </p:sp>
      <p:grpSp>
        <p:nvGrpSpPr>
          <p:cNvPr name="Group 19" id="19"/>
          <p:cNvGrpSpPr/>
          <p:nvPr/>
        </p:nvGrpSpPr>
        <p:grpSpPr>
          <a:xfrm rot="0">
            <a:off x="8484493" y="9014056"/>
            <a:ext cx="2545888" cy="2545888"/>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0345E4">
                  <a:alpha val="9804"/>
                </a:srgbClr>
              </a:solidFill>
              <a:prstDash val="solid"/>
              <a:miter/>
            </a:ln>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22" id="22"/>
          <p:cNvSpPr/>
          <p:nvPr/>
        </p:nvSpPr>
        <p:spPr>
          <a:xfrm flipH="false" flipV="false" rot="0">
            <a:off x="13449906" y="469013"/>
            <a:ext cx="2112543" cy="559687"/>
          </a:xfrm>
          <a:custGeom>
            <a:avLst/>
            <a:gdLst/>
            <a:ahLst/>
            <a:cxnLst/>
            <a:rect r="r" b="b" t="t" l="l"/>
            <a:pathLst>
              <a:path h="559687" w="2112543">
                <a:moveTo>
                  <a:pt x="0" y="0"/>
                </a:moveTo>
                <a:lnTo>
                  <a:pt x="2112543" y="0"/>
                </a:lnTo>
                <a:lnTo>
                  <a:pt x="2112543" y="559687"/>
                </a:lnTo>
                <a:lnTo>
                  <a:pt x="0" y="559687"/>
                </a:lnTo>
                <a:lnTo>
                  <a:pt x="0" y="0"/>
                </a:lnTo>
                <a:close/>
              </a:path>
            </a:pathLst>
          </a:custGeom>
          <a:blipFill>
            <a:blip r:embed="rId2"/>
            <a:stretch>
              <a:fillRect l="0" t="0" r="0" b="0"/>
            </a:stretch>
          </a:blipFill>
        </p:spPr>
      </p:sp>
      <p:sp>
        <p:nvSpPr>
          <p:cNvPr name="Freeform 23" id="23"/>
          <p:cNvSpPr/>
          <p:nvPr/>
        </p:nvSpPr>
        <p:spPr>
          <a:xfrm flipH="false" flipV="false" rot="0">
            <a:off x="15704036" y="426100"/>
            <a:ext cx="686062" cy="673358"/>
          </a:xfrm>
          <a:custGeom>
            <a:avLst/>
            <a:gdLst/>
            <a:ahLst/>
            <a:cxnLst/>
            <a:rect r="r" b="b" t="t" l="l"/>
            <a:pathLst>
              <a:path h="673358" w="686062">
                <a:moveTo>
                  <a:pt x="0" y="0"/>
                </a:moveTo>
                <a:lnTo>
                  <a:pt x="686063" y="0"/>
                </a:lnTo>
                <a:lnTo>
                  <a:pt x="686063" y="673357"/>
                </a:lnTo>
                <a:lnTo>
                  <a:pt x="0" y="673357"/>
                </a:lnTo>
                <a:lnTo>
                  <a:pt x="0" y="0"/>
                </a:lnTo>
                <a:close/>
              </a:path>
            </a:pathLst>
          </a:custGeom>
          <a:blipFill>
            <a:blip r:embed="rId3"/>
            <a:stretch>
              <a:fillRect l="0" t="0" r="0" b="0"/>
            </a:stretch>
          </a:blipFill>
        </p:spPr>
      </p:sp>
      <p:sp>
        <p:nvSpPr>
          <p:cNvPr name="Freeform 24" id="24"/>
          <p:cNvSpPr/>
          <p:nvPr/>
        </p:nvSpPr>
        <p:spPr>
          <a:xfrm flipH="false" flipV="false" rot="0">
            <a:off x="16531686" y="426100"/>
            <a:ext cx="645513" cy="645513"/>
          </a:xfrm>
          <a:custGeom>
            <a:avLst/>
            <a:gdLst/>
            <a:ahLst/>
            <a:cxnLst/>
            <a:rect r="r" b="b" t="t" l="l"/>
            <a:pathLst>
              <a:path h="645513" w="645513">
                <a:moveTo>
                  <a:pt x="0" y="0"/>
                </a:moveTo>
                <a:lnTo>
                  <a:pt x="645514" y="0"/>
                </a:lnTo>
                <a:lnTo>
                  <a:pt x="645514" y="645513"/>
                </a:lnTo>
                <a:lnTo>
                  <a:pt x="0" y="645513"/>
                </a:lnTo>
                <a:lnTo>
                  <a:pt x="0" y="0"/>
                </a:lnTo>
                <a:close/>
              </a:path>
            </a:pathLst>
          </a:custGeom>
          <a:blipFill>
            <a:blip r:embed="rId4"/>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DAG84M3FIu4</dc:identifier>
  <dcterms:modified xsi:type="dcterms:W3CDTF">2011-08-01T06:04:30Z</dcterms:modified>
  <cp:revision>1</cp:revision>
  <dc:title>Deteksi Jenis Cuaca dari Citra Langit Menggunakan CNN</dc:title>
</cp:coreProperties>
</file>